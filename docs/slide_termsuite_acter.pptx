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12"/>
  </p:notesMasterIdLst>
  <p:sldIdLst>
    <p:sldId id="25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5806" autoAdjust="0"/>
  </p:normalViewPr>
  <p:slideViewPr>
    <p:cSldViewPr snapToGrid="0" snapToObjects="1">
      <p:cViewPr varScale="1">
        <p:scale>
          <a:sx n="100" d="100"/>
          <a:sy n="100" d="100"/>
        </p:scale>
        <p:origin x="108" y="282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embed (nous)</c:v>
                </c:pt>
              </c:strCache>
            </c:strRef>
          </c:tx>
          <c:spPr>
            <a:solidFill>
              <a:srgbClr val="0E6B66"/>
            </a:solidFill>
          </c:spPr>
          <c:cat>
            <c:strRef>
              <c:f>Sheet1!$A$2:$A$3</c:f>
              <c:strCache>
                <c:ptCount val="2"/>
                <c:pt idx="0">
                  <c:v>Liste 1</c:v>
                </c:pt>
                <c:pt idx="1">
                  <c:v>Listes 1 + 2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0.532</c:v>
                </c:pt>
                <c:pt idx="1">
                  <c:v>0.432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TermSuite</c:v>
                </c:pt>
              </c:strCache>
            </c:strRef>
          </c:tx>
          <c:spPr>
            <a:solidFill>
              <a:srgbClr val="B4BCBA"/>
            </a:solidFill>
          </c:spPr>
          <c:cat>
            <c:strRef>
              <c:f>Sheet1!$A$2:$A$3</c:f>
              <c:strCache>
                <c:ptCount val="2"/>
                <c:pt idx="0">
                  <c:v>Liste 1</c:v>
                </c:pt>
                <c:pt idx="1">
                  <c:v>Listes 1 + 2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0.393</c:v>
                </c:pt>
                <c:pt idx="1">
                  <c:v>0.32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>
                  <a:solidFill>
                    <a:srgbClr val="1B2429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DD4"/>
            </a:solidFill>
          </a:ln>
        </c:spPr>
        <c:txPr>
          <a:bodyPr/>
          <a:lstStyle/>
          <a:p>
            <a:pPr>
              <a:defRPr sz="1300">
                <a:solidFill>
                  <a:srgbClr val="52605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52605F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6964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286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764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11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4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94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14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47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41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98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0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4959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5572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ubrique"/>
          <p:cNvSpPr txBox="1"/>
          <p:nvPr/>
        </p:nvSpPr>
        <p:spPr>
          <a:xfrm>
            <a:off x="457200" y="1554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7C8886"/>
                </a:solidFill>
                <a:latin typeface="Consolas"/>
              </a:rPr>
              <a:t>COMPARAISON · TERMSUITE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640080" y="777240"/>
            <a:ext cx="108813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2429"/>
                </a:solidFill>
                <a:latin typeface="Cambria"/>
              </a:rPr>
              <a:t>Embed : les suggestions les plus fiables</a:t>
            </a:r>
          </a:p>
        </p:txBody>
      </p:sp>
      <p:sp>
        <p:nvSpPr>
          <p:cNvPr id="4" name="Sous-titre"/>
          <p:cNvSpPr txBox="1"/>
          <p:nvPr/>
        </p:nvSpPr>
        <p:spPr>
          <a:xfrm>
            <a:off x="640080" y="16002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2605F"/>
                </a:solidFill>
                <a:latin typeface="Calibri"/>
              </a:rPr>
              <a:t>Corpus ACTER avec un vocabulaire cible — comparé à TermSuite 3.0.10 à nombre de suggestions égal</a:t>
            </a:r>
          </a:p>
        </p:txBody>
      </p:sp>
      <p:sp>
        <p:nvSpPr>
          <p:cNvPr id="5" name="Carte comparaison filet"/>
          <p:cNvSpPr/>
          <p:nvPr/>
        </p:nvSpPr>
        <p:spPr>
          <a:xfrm>
            <a:off x="640080" y="2331720"/>
            <a:ext cx="6720840" cy="36576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te comparaison"/>
          <p:cNvSpPr/>
          <p:nvPr/>
        </p:nvSpPr>
        <p:spPr>
          <a:xfrm>
            <a:off x="640080" y="2368296"/>
            <a:ext cx="6720840" cy="3575304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el comparaison"/>
          <p:cNvSpPr txBox="1"/>
          <p:nvPr/>
        </p:nvSpPr>
        <p:spPr>
          <a:xfrm>
            <a:off x="804671" y="2478024"/>
            <a:ext cx="6391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E6B66"/>
                </a:solidFill>
                <a:latin typeface="Consolas"/>
              </a:rPr>
              <a:t>PART DE SUGGESTIONS JUSTES · MÊME NOMBRE DE SUGGESTIONS</a:t>
            </a:r>
          </a:p>
        </p:txBody>
      </p:sp>
      <p:graphicFrame>
        <p:nvGraphicFramePr>
          <p:cNvPr id="8" name="Graphique embed contre TermSuite"/>
          <p:cNvGraphicFramePr>
            <a:graphicFrameLocks noGrp="1"/>
          </p:cNvGraphicFramePr>
          <p:nvPr/>
        </p:nvGraphicFramePr>
        <p:xfrm>
          <a:off x="731519" y="2788920"/>
          <a:ext cx="6537959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Carte essentiel filet"/>
          <p:cNvSpPr/>
          <p:nvPr/>
        </p:nvSpPr>
        <p:spPr>
          <a:xfrm>
            <a:off x="7589520" y="2331720"/>
            <a:ext cx="3931920" cy="36576"/>
          </a:xfrm>
          <a:prstGeom prst="rect">
            <a:avLst/>
          </a:prstGeom>
          <a:solidFill>
            <a:srgbClr val="52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te essentiel"/>
          <p:cNvSpPr/>
          <p:nvPr/>
        </p:nvSpPr>
        <p:spPr>
          <a:xfrm>
            <a:off x="7589520" y="2368296"/>
            <a:ext cx="3931920" cy="3575304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bel essentiel"/>
          <p:cNvSpPr txBox="1"/>
          <p:nvPr/>
        </p:nvSpPr>
        <p:spPr>
          <a:xfrm>
            <a:off x="7754112" y="2478024"/>
            <a:ext cx="36027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2605F"/>
                </a:solidFill>
                <a:latin typeface="Consolas"/>
              </a:rPr>
              <a:t>L'ESSENTIEL</a:t>
            </a:r>
          </a:p>
        </p:txBody>
      </p:sp>
      <p:sp>
        <p:nvSpPr>
          <p:cNvPr id="12" name="Puce 1"/>
          <p:cNvSpPr/>
          <p:nvPr/>
        </p:nvSpPr>
        <p:spPr>
          <a:xfrm>
            <a:off x="7754112" y="2898648"/>
            <a:ext cx="329184" cy="329184"/>
          </a:xfrm>
          <a:prstGeom prst="ellipse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3" name="Point 1 titre"/>
          <p:cNvSpPr txBox="1"/>
          <p:nvPr/>
        </p:nvSpPr>
        <p:spPr>
          <a:xfrm>
            <a:off x="8229600" y="2880360"/>
            <a:ext cx="3127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B2429"/>
                </a:solidFill>
                <a:latin typeface="Cambria"/>
              </a:rPr>
              <a:t>Embed vise juste</a:t>
            </a:r>
          </a:p>
        </p:txBody>
      </p:sp>
      <p:sp>
        <p:nvSpPr>
          <p:cNvPr id="14" name="Point 1 texte"/>
          <p:cNvSpPr txBox="1"/>
          <p:nvPr/>
        </p:nvSpPr>
        <p:spPr>
          <a:xfrm>
            <a:off x="8229600" y="3209544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2605F"/>
                </a:solidFill>
                <a:latin typeface="Calibri"/>
              </a:rPr>
              <a:t>53 % des suggestions de la liste 1 sont justes, contre 39 % pour TermSuite.</a:t>
            </a:r>
          </a:p>
        </p:txBody>
      </p:sp>
      <p:sp>
        <p:nvSpPr>
          <p:cNvPr id="15" name="Puce 2"/>
          <p:cNvSpPr/>
          <p:nvPr/>
        </p:nvSpPr>
        <p:spPr>
          <a:xfrm>
            <a:off x="7754112" y="3886200"/>
            <a:ext cx="329184" cy="329184"/>
          </a:xfrm>
          <a:prstGeom prst="ellipse">
            <a:avLst/>
          </a:prstGeom>
          <a:solidFill>
            <a:srgbClr val="52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6" name="Point 2 titre"/>
          <p:cNvSpPr txBox="1"/>
          <p:nvPr/>
        </p:nvSpPr>
        <p:spPr>
          <a:xfrm>
            <a:off x="8229600" y="3867912"/>
            <a:ext cx="3127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B2429"/>
                </a:solidFill>
                <a:latin typeface="Cambria"/>
              </a:rPr>
              <a:t>Et trouve plus de termes</a:t>
            </a:r>
          </a:p>
        </p:txBody>
      </p:sp>
      <p:sp>
        <p:nvSpPr>
          <p:cNvPr id="17" name="Point 2 texte"/>
          <p:cNvSpPr txBox="1"/>
          <p:nvPr/>
        </p:nvSpPr>
        <p:spPr>
          <a:xfrm>
            <a:off x="8229600" y="4197096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2605F"/>
                </a:solidFill>
                <a:latin typeface="Calibri"/>
              </a:rPr>
              <a:t>À nombre égal : 521 termes justes contre 385 pour TermSuite.</a:t>
            </a:r>
          </a:p>
        </p:txBody>
      </p:sp>
      <p:sp>
        <p:nvSpPr>
          <p:cNvPr id="18" name="Puce 3"/>
          <p:cNvSpPr/>
          <p:nvPr/>
        </p:nvSpPr>
        <p:spPr>
          <a:xfrm>
            <a:off x="7754112" y="4873752"/>
            <a:ext cx="329184" cy="329184"/>
          </a:xfrm>
          <a:prstGeom prst="ellipse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9" name="Point 3 titre"/>
          <p:cNvSpPr txBox="1"/>
          <p:nvPr/>
        </p:nvSpPr>
        <p:spPr>
          <a:xfrm>
            <a:off x="8229600" y="4855464"/>
            <a:ext cx="3127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B2429"/>
                </a:solidFill>
                <a:latin typeface="Cambria"/>
              </a:rPr>
              <a:t>Le curateur gagne avec embed</a:t>
            </a:r>
          </a:p>
        </p:txBody>
      </p:sp>
      <p:sp>
        <p:nvSpPr>
          <p:cNvPr id="20" name="Point 3 texte"/>
          <p:cNvSpPr txBox="1"/>
          <p:nvPr/>
        </p:nvSpPr>
        <p:spPr>
          <a:xfrm>
            <a:off x="8229600" y="5184648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2605F"/>
                </a:solidFill>
                <a:latin typeface="Calibri"/>
              </a:rPr>
              <a:t>Il valide chaque suggestion : peu de bruit compte plus que l'exhaustivité.</a:t>
            </a:r>
          </a:p>
        </p:txBody>
      </p:sp>
      <p:sp>
        <p:nvSpPr>
          <p:cNvPr id="21" name="Note de méthode"/>
          <p:cNvSpPr txBox="1"/>
          <p:nvPr/>
        </p:nvSpPr>
        <p:spPr>
          <a:xfrm>
            <a:off x="640080" y="61447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C8886"/>
                </a:solidFill>
                <a:latin typeface="Calibri"/>
              </a:rPr>
              <a:t>Corpus ACTER : la moitié des termes annotés sert de vocabulaire, l'autre est à retrouver ; une suggestion est juste si c'est l'un de ces termes. Sans vocabulaire : F1 mot par mot 0.57 pour TermSuite, 0.50 pour PositionRank.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e">
  <a:themeElements>
    <a:clrScheme name="Dividend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TM03457464[[fn=Dividende]]</Template>
  <TotalTime>1327</TotalTime>
  <Words>1798</Words>
  <Application>Microsoft Office PowerPoint</Application>
  <PresentationFormat>Grand écran</PresentationFormat>
  <Paragraphs>182</Paragraphs>
  <Slides>10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8" baseType="lpstr">
      <vt:lpstr>-apple-system</vt:lpstr>
      <vt:lpstr>Arial</vt:lpstr>
      <vt:lpstr>Calibri</vt:lpstr>
      <vt:lpstr>Cambria</vt:lpstr>
      <vt:lpstr>Consolas</vt:lpstr>
      <vt:lpstr>Gill Sans MT</vt:lpstr>
      <vt:lpstr>Wingdings 2</vt:lpstr>
      <vt:lpstr>Dividende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SCHNEIDER, Stephane</cp:lastModifiedBy>
  <cp:revision>21</cp:revision>
  <dcterms:created xsi:type="dcterms:W3CDTF">2013-01-27T09:14:16Z</dcterms:created>
  <dcterms:modified xsi:type="dcterms:W3CDTF">2026-10-09T14:01:53Z</dcterms:modified>
  <cp:category/>
</cp:coreProperties>
</file>