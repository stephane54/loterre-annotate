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8" r:id="rId9"/>
    <p:sldId id="263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5806" autoAdjust="0"/>
  </p:normalViewPr>
  <p:slideViewPr>
    <p:cSldViewPr snapToGrid="0" snapToObjects="1">
      <p:cViewPr varScale="1">
        <p:scale>
          <a:sx n="100" d="100"/>
          <a:sy n="100" d="100"/>
        </p:scale>
        <p:origin x="108" y="28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Liste 1 · embed (nous)</c:v>
                </c:pt>
              </c:strCache>
            </c:strRef>
          </c:tx>
          <c:spPr>
            <a:solidFill>
              <a:srgbClr val="0E6B66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B2429"/>
                    </a:solidFill>
                    <a:latin typeface="Consola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Précision</c:v>
                </c:pt>
                <c:pt idx="1">
                  <c:v>Rappel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0.85399999999999998</c:v>
                </c:pt>
                <c:pt idx="1">
                  <c:v>0.129</c:v>
                </c:pt>
                <c:pt idx="2">
                  <c:v>0.224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0EF-4647-9344-71820C4451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TermSuite</c:v>
                </c:pt>
              </c:strCache>
            </c:strRef>
          </c:tx>
          <c:spPr>
            <a:solidFill>
              <a:srgbClr val="B4BCBA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B2429"/>
                    </a:solidFill>
                    <a:latin typeface="Consola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Précision</c:v>
                </c:pt>
                <c:pt idx="1">
                  <c:v>Rappel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0.52500000000000002</c:v>
                </c:pt>
                <c:pt idx="1">
                  <c:v>0.30299999999999999</c:v>
                </c:pt>
                <c:pt idx="2">
                  <c:v>0.38400000000000001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0EF-4647-9344-71820C4451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DD4"/>
            </a:solidFill>
          </a:ln>
        </c:spPr>
        <c:txPr>
          <a:bodyPr/>
          <a:lstStyle/>
          <a:p>
            <a:pPr>
              <a:defRPr sz="1300">
                <a:solidFill>
                  <a:srgbClr val="52605F"/>
                </a:solidFill>
                <a:latin typeface="Calibri"/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00000000000000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2605F"/>
              </a:solidFill>
              <a:latin typeface="Calibri"/>
            </a:defRPr>
          </a:pPr>
          <a:endParaRPr lang="fr-F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96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 présenter en une phrase. Annoncer le plan : le problème, comment l'outil répond, les résultats mesurés (benchmark et cas réel), où on en est. Dix minutes, garder du temps pour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 vocabulaire Loterre est un thésaurus vivant : le domaine évolue, de nouveaux termes apparaissent dans les publications. Aujourd'hui ce suivi se fait terme par terme, à la main. Le besoin : repérer automatiquement les candidats plausibles dans un corpus, sans casser ce qui existe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Trois sous-</a:t>
            </a:r>
            <a:r>
              <a:rPr dirty="0" err="1"/>
              <a:t>commandes</a:t>
            </a:r>
            <a:r>
              <a:rPr dirty="0"/>
              <a:t>. annotate </a:t>
            </a:r>
            <a:r>
              <a:rPr dirty="0" err="1"/>
              <a:t>existait</a:t>
            </a:r>
            <a:r>
              <a:rPr dirty="0"/>
              <a:t> déjà (v1) : </a:t>
            </a:r>
            <a:r>
              <a:rPr dirty="0" err="1"/>
              <a:t>reconnaître</a:t>
            </a:r>
            <a:r>
              <a:rPr dirty="0"/>
              <a:t> les </a:t>
            </a:r>
            <a:r>
              <a:rPr dirty="0" err="1"/>
              <a:t>termes</a:t>
            </a:r>
            <a:r>
              <a:rPr dirty="0"/>
              <a:t> déjà dans le </a:t>
            </a:r>
            <a:r>
              <a:rPr dirty="0" err="1"/>
              <a:t>vocabulaire</a:t>
            </a:r>
            <a:r>
              <a:rPr dirty="0"/>
              <a:t>. extract </a:t>
            </a:r>
            <a:r>
              <a:rPr dirty="0" err="1"/>
              <a:t>est</a:t>
            </a:r>
            <a:r>
              <a:rPr dirty="0"/>
              <a:t> nouveau : proposer des </a:t>
            </a:r>
            <a:r>
              <a:rPr dirty="0" err="1"/>
              <a:t>candidats</a:t>
            </a:r>
            <a:r>
              <a:rPr dirty="0"/>
              <a:t> sans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vocabulaire</a:t>
            </a:r>
            <a:r>
              <a:rPr dirty="0"/>
              <a:t> de </a:t>
            </a:r>
            <a:r>
              <a:rPr dirty="0" err="1"/>
              <a:t>référence</a:t>
            </a:r>
            <a:r>
              <a:rPr dirty="0"/>
              <a:t> — utile pour explorer un </a:t>
            </a:r>
            <a:r>
              <a:rPr dirty="0" err="1"/>
              <a:t>domaine</a:t>
            </a:r>
            <a:r>
              <a:rPr dirty="0"/>
              <a:t> à </a:t>
            </a:r>
            <a:r>
              <a:rPr dirty="0" err="1"/>
              <a:t>froid</a:t>
            </a:r>
            <a:r>
              <a:rPr dirty="0"/>
              <a:t>. </a:t>
            </a:r>
            <a:r>
              <a:rPr dirty="0" err="1"/>
              <a:t>extract_annotate</a:t>
            </a:r>
            <a:r>
              <a:rPr dirty="0"/>
              <a:t> </a:t>
            </a:r>
            <a:r>
              <a:rPr dirty="0" err="1"/>
              <a:t>croise</a:t>
            </a:r>
            <a:r>
              <a:rPr dirty="0"/>
              <a:t> les deux : il extrait des </a:t>
            </a:r>
            <a:r>
              <a:rPr dirty="0" err="1"/>
              <a:t>candidats</a:t>
            </a:r>
            <a:r>
              <a:rPr dirty="0"/>
              <a:t> ET les compare au </a:t>
            </a:r>
            <a:r>
              <a:rPr dirty="0" err="1"/>
              <a:t>vocabulaire</a:t>
            </a:r>
            <a:r>
              <a:rPr dirty="0"/>
              <a:t> </a:t>
            </a:r>
            <a:r>
              <a:rPr dirty="0" err="1"/>
              <a:t>cible</a:t>
            </a:r>
            <a:r>
              <a:rPr dirty="0"/>
              <a:t>.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celui-là</a:t>
            </a:r>
            <a:r>
              <a:rPr dirty="0"/>
              <a:t> qui correspond à </a:t>
            </a:r>
            <a:r>
              <a:rPr dirty="0" err="1"/>
              <a:t>notre</a:t>
            </a:r>
            <a:r>
              <a:rPr dirty="0"/>
              <a:t> </a:t>
            </a:r>
            <a:r>
              <a:rPr dirty="0" err="1"/>
              <a:t>cas</a:t>
            </a:r>
            <a:r>
              <a:rPr dirty="0"/>
              <a:t> </a:t>
            </a:r>
            <a:r>
              <a:rPr dirty="0" err="1"/>
              <a:t>d'usage</a:t>
            </a:r>
            <a:r>
              <a:rPr dirty="0"/>
              <a:t> </a:t>
            </a:r>
            <a:r>
              <a:rPr dirty="0" err="1"/>
              <a:t>prioritaire</a:t>
            </a:r>
            <a:r>
              <a:rPr dirty="0"/>
              <a:t> : </a:t>
            </a:r>
            <a:r>
              <a:rPr dirty="0" err="1"/>
              <a:t>mettre</a:t>
            </a:r>
            <a:r>
              <a:rPr dirty="0"/>
              <a:t> à jour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ressource</a:t>
            </a:r>
            <a:r>
              <a:rPr dirty="0"/>
              <a:t> qui </a:t>
            </a:r>
            <a:r>
              <a:rPr dirty="0" err="1"/>
              <a:t>existe</a:t>
            </a:r>
            <a:r>
              <a:rPr dirty="0"/>
              <a:t> déjà. </a:t>
            </a:r>
            <a:r>
              <a:rPr dirty="0" err="1"/>
              <a:t>Détail</a:t>
            </a:r>
            <a:r>
              <a:rPr dirty="0"/>
              <a:t> technique </a:t>
            </a:r>
            <a:r>
              <a:rPr dirty="0" err="1"/>
              <a:t>si</a:t>
            </a:r>
            <a:r>
              <a:rPr dirty="0"/>
              <a:t> on me le </a:t>
            </a:r>
            <a:r>
              <a:rPr dirty="0" err="1"/>
              <a:t>demande</a:t>
            </a:r>
            <a:r>
              <a:rPr dirty="0"/>
              <a:t> : annotate </a:t>
            </a:r>
            <a:r>
              <a:rPr dirty="0" err="1"/>
              <a:t>tourne</a:t>
            </a:r>
            <a:r>
              <a:rPr dirty="0"/>
              <a:t> sur un </a:t>
            </a:r>
            <a:r>
              <a:rPr dirty="0" err="1"/>
              <a:t>moteur</a:t>
            </a:r>
            <a:r>
              <a:rPr dirty="0"/>
              <a:t> 5 passes + </a:t>
            </a:r>
            <a:r>
              <a:rPr dirty="0" err="1"/>
              <a:t>Trie</a:t>
            </a:r>
            <a:r>
              <a:rPr dirty="0"/>
              <a:t>, lookup direct dans les </a:t>
            </a:r>
            <a:r>
              <a:rPr dirty="0" err="1"/>
              <a:t>dictionnaires</a:t>
            </a:r>
            <a:r>
              <a:rPr dirty="0"/>
              <a:t> JSONL </a:t>
            </a:r>
            <a:r>
              <a:rPr dirty="0" err="1"/>
              <a:t>générés</a:t>
            </a:r>
            <a:r>
              <a:rPr dirty="0"/>
              <a:t> par </a:t>
            </a:r>
            <a:r>
              <a:rPr dirty="0" err="1"/>
              <a:t>vocabulaire</a:t>
            </a:r>
            <a:r>
              <a:rPr dirty="0"/>
              <a:t>. extract </a:t>
            </a:r>
            <a:r>
              <a:rPr dirty="0" err="1"/>
              <a:t>choisit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 son </a:t>
            </a:r>
            <a:r>
              <a:rPr dirty="0" err="1"/>
              <a:t>algorithme</a:t>
            </a:r>
            <a:r>
              <a:rPr dirty="0"/>
              <a:t> </a:t>
            </a:r>
            <a:r>
              <a:rPr dirty="0" err="1"/>
              <a:t>selon</a:t>
            </a:r>
            <a:r>
              <a:rPr dirty="0"/>
              <a:t> le volume — NC-value (</a:t>
            </a:r>
            <a:r>
              <a:rPr dirty="0" err="1"/>
              <a:t>Frantzi</a:t>
            </a:r>
            <a:r>
              <a:rPr dirty="0"/>
              <a:t> 2000) sur corpus, </a:t>
            </a:r>
            <a:r>
              <a:rPr dirty="0" err="1"/>
              <a:t>PositionRank</a:t>
            </a:r>
            <a:r>
              <a:rPr dirty="0"/>
              <a:t> (</a:t>
            </a:r>
            <a:r>
              <a:rPr dirty="0" err="1"/>
              <a:t>Florescu</a:t>
            </a:r>
            <a:r>
              <a:rPr dirty="0"/>
              <a:t> 2017) sur </a:t>
            </a:r>
            <a:r>
              <a:rPr dirty="0" err="1"/>
              <a:t>texte</a:t>
            </a:r>
            <a:r>
              <a:rPr dirty="0"/>
              <a:t> court — </a:t>
            </a:r>
            <a:r>
              <a:rPr dirty="0" err="1"/>
              <a:t>ou</a:t>
            </a:r>
            <a:r>
              <a:rPr dirty="0"/>
              <a:t> se force avec --extractor. </a:t>
            </a:r>
            <a:r>
              <a:rPr dirty="0" err="1"/>
              <a:t>extract_annotate</a:t>
            </a:r>
            <a:r>
              <a:rPr dirty="0"/>
              <a:t> --extractor embed compare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candidat</a:t>
            </a:r>
            <a:r>
              <a:rPr dirty="0"/>
              <a:t> au </a:t>
            </a:r>
            <a:r>
              <a:rPr dirty="0" err="1"/>
              <a:t>terme</a:t>
            </a:r>
            <a:r>
              <a:rPr dirty="0"/>
              <a:t> le plus </a:t>
            </a:r>
            <a:r>
              <a:rPr dirty="0" err="1"/>
              <a:t>proche</a:t>
            </a:r>
            <a:r>
              <a:rPr dirty="0"/>
              <a:t> du </a:t>
            </a:r>
            <a:r>
              <a:rPr dirty="0" err="1"/>
              <a:t>vocabulaire</a:t>
            </a:r>
            <a:r>
              <a:rPr dirty="0"/>
              <a:t> </a:t>
            </a:r>
            <a:r>
              <a:rPr dirty="0" err="1"/>
              <a:t>cible</a:t>
            </a:r>
            <a:r>
              <a:rPr dirty="0"/>
              <a:t> via </a:t>
            </a:r>
            <a:r>
              <a:rPr dirty="0" err="1"/>
              <a:t>MiniLM</a:t>
            </a:r>
            <a:r>
              <a:rPr dirty="0"/>
              <a:t> </a:t>
            </a:r>
            <a:r>
              <a:rPr dirty="0" err="1"/>
              <a:t>multilingue</a:t>
            </a:r>
            <a:r>
              <a:rPr dirty="0"/>
              <a:t> (118 Mo, CPU, pas de GPU).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Capacités annotation</a:t>
            </a:r>
            <a:r>
              <a:rPr lang="fr-FR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Trois profils précision/rappel prédéfinis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Filtrage qualité contextuel configurable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Auto-profiling depuis les statistiques du dictionnaire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Modes d'exécution : complet, rapide (regex), hybride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Sortie JSON annotée ou rendu HTML interactif avec comparaison gold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Benchmark intégré contre l'API production ISTEX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Capacités extraction, v2.0</a:t>
            </a:r>
            <a:r>
              <a:rPr lang="fr-FR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Scoring</a:t>
            </a:r>
            <a:r>
              <a:rPr lang="fr-FR" dirty="0"/>
              <a:t> : C-value (corpus volumineux), </a:t>
            </a:r>
            <a:r>
              <a:rPr lang="fr-FR" dirty="0" err="1"/>
              <a:t>PositionRank</a:t>
            </a:r>
            <a:r>
              <a:rPr lang="fr-FR" dirty="0"/>
              <a:t> (corpus court), similarité aux </a:t>
            </a:r>
            <a:r>
              <a:rPr lang="fr-FR" dirty="0" err="1"/>
              <a:t>embeddings</a:t>
            </a:r>
            <a:r>
              <a:rPr lang="fr-FR" dirty="0"/>
              <a:t> d'un vocabulaire cible (plus proche voisin)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Détection de variantes (graphiques/morphologiques/syntaxiques), inspirée de </a:t>
            </a:r>
            <a:r>
              <a:rPr lang="fr-FR" dirty="0" err="1"/>
              <a:t>TermSuite</a:t>
            </a:r>
            <a:r>
              <a:rPr lang="fr-FR" dirty="0"/>
              <a:t> (CNRS/TTC)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Benchmark avec le gold ACTER (extraction uniquement, comparable à D-Terminer)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Langues</a:t>
            </a:r>
            <a:r>
              <a:rPr lang="fr-FR" dirty="0"/>
              <a:t> : anglais et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déroulé concret : on part d'un corpus de textes. On en extrait des expressions candidates — des groupes de mots qui ressemblent à des termes. On les compare sémantiquement au vocabulaire existant grâce à un modèle d'IA léger, qui tourne sur CPU. On obtient des listes de suggestions triées, prêtes à être relues par un curateur.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Trois signaux indépendants produisent trois listes distinctes, jamais fusionnées en un seul score. Sémantique : le candidat ressemble à un terme déjà connu — la plus fiable, précision autour de 0.86. Structurel : profil de terme important dans le texte même sans lien avec le vocabulaire — plus bruité, 0.57 à 0.64. Spécificité : mot rare comparé à la langue courante — le signal le plus bruité, 0.27 à 0.30, désactivé par défaut, à activer volontairement.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guide de curation (docs/curation_guide.md) donne une consigne simple : traiter les listes dans l'ordre 1 puis 2 puis 3, jamais en vrac, et ne jamais comparer les scores bruts entre eux — seuls les trois statuts déjà seuillés doivent guider la décision. Liste 1 : revue rapide, quasi en lot, environ 1 candidat sur 7 à rejeter. Liste 2 : lecture individuelle avec le contexte obligatoire, jamais de lot, plus de bruit attendu — ce n'est pas une anomalie. Liste 3, si activée : liste exploratoire, tri manuel plus lourd, environ 1 candidat sur 3 à 4 pertinent. Un candidat absent des trois listes n'est pas une suggestion. Un terme déjà dans le vocabulaire ne demande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Pour valider objectivement, on s'est aussi mesuré contre ACTER, un corpus public annoté à la main indépendamment de nous — 18 900 termes, français et anglais, quatre domaines. Trois indicateurs mesurés, micro-moyenne sur les 8 combinaisons domaine/langue, algorithme PositionRank : précision 0.551 (parmi ce qu'on propose, la part de vrais termes), rappel 0.454 (parmi les vrais termes du domaine, la part qu'on retrouve), F1 0.498 — équilibre des deux, notre chiffre de référence. Face à D-Terminer, la référence qui utilise un gros modèle de langue sur GPU, on se situe dans la fourchette haute de leurs résultats, sans aucun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Concrètement</a:t>
            </a:r>
            <a:r>
              <a:rPr dirty="0"/>
              <a:t>, sur un </a:t>
            </a:r>
            <a:r>
              <a:rPr dirty="0" err="1"/>
              <a:t>vrai</a:t>
            </a:r>
            <a:r>
              <a:rPr dirty="0"/>
              <a:t> corpus de production : </a:t>
            </a:r>
            <a:r>
              <a:rPr dirty="0" err="1"/>
              <a:t>RevueESR</a:t>
            </a:r>
            <a:r>
              <a:rPr dirty="0"/>
              <a:t>, 1539 documents, </a:t>
            </a:r>
            <a:r>
              <a:rPr dirty="0" err="1"/>
              <a:t>presque</a:t>
            </a:r>
            <a:r>
              <a:rPr dirty="0"/>
              <a:t> 6 millions de tokens, sur le </a:t>
            </a:r>
            <a:r>
              <a:rPr dirty="0" err="1"/>
              <a:t>vocabulaire</a:t>
            </a:r>
            <a:r>
              <a:rPr dirty="0"/>
              <a:t> SEN (</a:t>
            </a:r>
            <a:r>
              <a:rPr dirty="0" err="1"/>
              <a:t>santé</a:t>
            </a:r>
            <a:r>
              <a:rPr dirty="0"/>
              <a:t> </a:t>
            </a:r>
            <a:r>
              <a:rPr dirty="0" err="1"/>
              <a:t>environnementale</a:t>
            </a:r>
            <a:r>
              <a:rPr dirty="0"/>
              <a:t>). Le run </a:t>
            </a:r>
            <a:r>
              <a:rPr dirty="0" err="1"/>
              <a:t>complet</a:t>
            </a:r>
            <a:r>
              <a:rPr dirty="0"/>
              <a:t> a </a:t>
            </a:r>
            <a:r>
              <a:rPr dirty="0" err="1"/>
              <a:t>tourné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28 minutes 39, sans </a:t>
            </a:r>
            <a:r>
              <a:rPr dirty="0" err="1"/>
              <a:t>incidentchaque</a:t>
            </a:r>
            <a:r>
              <a:rPr dirty="0"/>
              <a:t> </a:t>
            </a:r>
            <a:r>
              <a:rPr dirty="0" err="1"/>
              <a:t>candidat</a:t>
            </a:r>
            <a:r>
              <a:rPr dirty="0"/>
              <a:t> </a:t>
            </a:r>
            <a:r>
              <a:rPr dirty="0" err="1"/>
              <a:t>n'apparaît</a:t>
            </a:r>
            <a:r>
              <a:rPr dirty="0"/>
              <a:t> que dans un </a:t>
            </a:r>
            <a:r>
              <a:rPr dirty="0" err="1"/>
              <a:t>seul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. Et </a:t>
            </a:r>
            <a:r>
              <a:rPr dirty="0" err="1"/>
              <a:t>l'échantillon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 3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qualitativement</a:t>
            </a:r>
            <a:r>
              <a:rPr dirty="0"/>
              <a:t> </a:t>
            </a:r>
            <a:r>
              <a:rPr dirty="0" err="1"/>
              <a:t>cohérent</a:t>
            </a:r>
            <a:r>
              <a:rPr dirty="0"/>
              <a:t> avec le </a:t>
            </a:r>
            <a:r>
              <a:rPr dirty="0" err="1"/>
              <a:t>domaine</a:t>
            </a:r>
            <a:r>
              <a:rPr dirty="0"/>
              <a:t> du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Trois prochaines étapes : finaliser la release taguée officielle, traiter le point de performance sur la détection de variantes pour les très gros corpus, et le guide de curation est déjà rédigé et prêt à être utilisé. Merci, place aux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86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6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1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94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4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4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0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9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557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1234440"/>
            <a:ext cx="274320" cy="254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1155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 spc="140">
                <a:solidFill>
                  <a:srgbClr val="0E6B66"/>
                </a:solidFill>
                <a:latin typeface="Consolas"/>
              </a:rPr>
              <a:t>LOTERRE · INIST-CNRS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68680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B2429"/>
                </a:solidFill>
                <a:latin typeface="Cambria"/>
              </a:rPr>
              <a:t>Extraction terminologique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8957212" cy="330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b="0" i="0" dirty="0">
                <a:solidFill>
                  <a:srgbClr val="52605F"/>
                </a:solidFill>
                <a:latin typeface="Calibri"/>
              </a:rPr>
              <a:t>Aider les </a:t>
            </a:r>
            <a:r>
              <a:rPr lang="fr-FR" b="0" i="0" dirty="0">
                <a:solidFill>
                  <a:srgbClr val="52605F"/>
                </a:solidFill>
                <a:latin typeface="Calibri"/>
              </a:rPr>
              <a:t>terminologues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 à </a:t>
            </a:r>
            <a:r>
              <a:rPr b="0" i="0" dirty="0" err="1">
                <a:solidFill>
                  <a:srgbClr val="52605F"/>
                </a:solidFill>
                <a:latin typeface="Calibri"/>
              </a:rPr>
              <a:t>enrichir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 un </a:t>
            </a:r>
            <a:r>
              <a:rPr b="0" i="0" dirty="0" err="1">
                <a:solidFill>
                  <a:srgbClr val="52605F"/>
                </a:solidFill>
                <a:latin typeface="Calibri"/>
              </a:rPr>
              <a:t>vocabulaire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2605F"/>
                </a:solidFill>
                <a:latin typeface="Calibri"/>
              </a:rPr>
              <a:t>existant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 à </a:t>
            </a:r>
            <a:r>
              <a:rPr b="0" i="0" dirty="0" err="1">
                <a:solidFill>
                  <a:srgbClr val="52605F"/>
                </a:solidFill>
                <a:latin typeface="Calibri"/>
              </a:rPr>
              <a:t>partir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 de corpus de </a:t>
            </a:r>
            <a:r>
              <a:rPr b="0" i="0" dirty="0" err="1">
                <a:solidFill>
                  <a:srgbClr val="52605F"/>
                </a:solidFill>
                <a:latin typeface="Calibri"/>
              </a:rPr>
              <a:t>texte</a:t>
            </a:r>
            <a:r>
              <a:rPr lang="fr-FR" b="0" i="0" dirty="0">
                <a:solidFill>
                  <a:srgbClr val="52605F"/>
                </a:solidFill>
                <a:latin typeface="Calibri"/>
              </a:rPr>
              <a:t>s</a:t>
            </a:r>
            <a:endParaRPr b="0" i="0" dirty="0">
              <a:solidFill>
                <a:srgbClr val="52605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5989320"/>
            <a:ext cx="10881360" cy="1270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9144000" cy="190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dirty="0" err="1">
                <a:solidFill>
                  <a:srgbClr val="7C8886"/>
                </a:solidFill>
                <a:latin typeface="Consolas"/>
              </a:rPr>
              <a:t>Présentation</a:t>
            </a:r>
            <a:r>
              <a:rPr sz="1150" b="0" i="0" dirty="0">
                <a:solidFill>
                  <a:srgbClr val="7C8886"/>
                </a:solidFill>
                <a:latin typeface="Consolas"/>
              </a:rPr>
              <a:t> ~10 min        1</a:t>
            </a:r>
            <a:r>
              <a:rPr lang="fr-FR" sz="1150" b="0" i="0" dirty="0">
                <a:solidFill>
                  <a:srgbClr val="7C8886"/>
                </a:solidFill>
                <a:latin typeface="Consolas"/>
              </a:rPr>
              <a:t>5</a:t>
            </a:r>
            <a:r>
              <a:rPr sz="1150" b="0" i="0" dirty="0">
                <a:solidFill>
                  <a:srgbClr val="7C8886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7C8886"/>
                </a:solidFill>
                <a:latin typeface="Consolas"/>
              </a:rPr>
              <a:t>septembre</a:t>
            </a:r>
            <a:r>
              <a:rPr sz="1150" b="0" i="0" dirty="0">
                <a:solidFill>
                  <a:srgbClr val="7C8886"/>
                </a:solidFill>
                <a:latin typeface="Consolas"/>
              </a:rPr>
              <a:t>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8142" y="137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140" dirty="0">
                <a:solidFill>
                  <a:srgbClr val="7C8886"/>
                </a:solidFill>
                <a:latin typeface="Consolas"/>
              </a:rP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 dirty="0">
                <a:solidFill>
                  <a:srgbClr val="1B2429"/>
                </a:solidFill>
                <a:latin typeface="Cambria"/>
              </a:rPr>
              <a:t>Un </a:t>
            </a:r>
            <a:r>
              <a:rPr sz="3200" b="1" i="0" dirty="0" err="1">
                <a:solidFill>
                  <a:srgbClr val="1B2429"/>
                </a:solidFill>
                <a:latin typeface="Cambria"/>
              </a:rPr>
              <a:t>vocabulaire</a:t>
            </a:r>
            <a:r>
              <a:rPr sz="3200" b="1" i="0" dirty="0">
                <a:solidFill>
                  <a:srgbClr val="1B2429"/>
                </a:solidFill>
                <a:latin typeface="Cambria"/>
              </a:rPr>
              <a:t>, </a:t>
            </a:r>
            <a:r>
              <a:rPr sz="3200" b="1" i="0" dirty="0" err="1">
                <a:solidFill>
                  <a:srgbClr val="1B2429"/>
                </a:solidFill>
                <a:latin typeface="Cambria"/>
              </a:rPr>
              <a:t>ça</a:t>
            </a:r>
            <a:r>
              <a:rPr sz="3200" b="1" i="0" dirty="0">
                <a:solidFill>
                  <a:srgbClr val="1B2429"/>
                </a:solidFill>
                <a:latin typeface="Cambria"/>
              </a:rPr>
              <a:t> </a:t>
            </a:r>
            <a:r>
              <a:rPr sz="3200" b="1" i="0" dirty="0" err="1">
                <a:solidFill>
                  <a:srgbClr val="1B2429"/>
                </a:solidFill>
                <a:latin typeface="Cambria"/>
              </a:rPr>
              <a:t>vieillit</a:t>
            </a:r>
            <a:endParaRPr sz="3200" b="1" i="0" dirty="0">
              <a:solidFill>
                <a:srgbClr val="1B2429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8961120" cy="320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b="0" i="0" dirty="0">
                <a:solidFill>
                  <a:srgbClr val="52605F"/>
                </a:solidFill>
                <a:latin typeface="Calibri"/>
              </a:rPr>
              <a:t>Les </a:t>
            </a:r>
            <a:r>
              <a:rPr lang="fr-FR" b="0" i="0" dirty="0">
                <a:solidFill>
                  <a:srgbClr val="52605F"/>
                </a:solidFill>
                <a:latin typeface="Calibri"/>
              </a:rPr>
              <a:t>ressources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2605F"/>
                </a:solidFill>
                <a:latin typeface="Calibri"/>
              </a:rPr>
              <a:t>Loterre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2605F"/>
                </a:solidFill>
                <a:latin typeface="Calibri"/>
              </a:rPr>
              <a:t>suivent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 des </a:t>
            </a:r>
            <a:r>
              <a:rPr b="0" i="0" dirty="0" err="1">
                <a:solidFill>
                  <a:srgbClr val="52605F"/>
                </a:solidFill>
                <a:latin typeface="Calibri"/>
              </a:rPr>
              <a:t>domaines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2605F"/>
                </a:solidFill>
                <a:latin typeface="Calibri"/>
              </a:rPr>
              <a:t>en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2605F"/>
                </a:solidFill>
                <a:latin typeface="Calibri"/>
              </a:rPr>
              <a:t>mouvement</a:t>
            </a:r>
            <a:r>
              <a:rPr b="0" i="0" dirty="0">
                <a:solidFill>
                  <a:srgbClr val="52605F"/>
                </a:solidFill>
                <a:latin typeface="Calibri"/>
              </a:rPr>
              <a:t>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953064" y="2776805"/>
            <a:ext cx="3533336" cy="45719"/>
          </a:xfrm>
          <a:prstGeom prst="rect">
            <a:avLst/>
          </a:prstGeom>
          <a:solidFill>
            <a:srgbClr val="52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1953064" y="2814906"/>
            <a:ext cx="3533336" cy="3110132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2117656" y="2942922"/>
            <a:ext cx="3127248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 spc="80">
                <a:solidFill>
                  <a:srgbClr val="52605F"/>
                </a:solidFill>
                <a:latin typeface="Consolas"/>
              </a:rPr>
              <a:t>CONSTAT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7656" y="3253818"/>
            <a:ext cx="3127248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Le domaine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7656" y="3619578"/>
            <a:ext cx="3127248" cy="1533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 dirty="0">
                <a:solidFill>
                  <a:srgbClr val="52605F"/>
                </a:solidFill>
                <a:latin typeface="Calibri"/>
              </a:rPr>
              <a:t>De nouveaux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termes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apparaissent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continu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dans la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littérature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scientifique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et technique.</a:t>
            </a:r>
            <a:endParaRPr lang="fr-FR" sz="1400" b="0" i="0" dirty="0">
              <a:solidFill>
                <a:srgbClr val="52605F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lang="fr-FR" sz="1400" dirty="0">
              <a:solidFill>
                <a:srgbClr val="52605F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fr-FR" sz="1400" b="0" i="0" dirty="0">
                <a:solidFill>
                  <a:srgbClr val="52605F"/>
                </a:solidFill>
                <a:latin typeface="Calibri"/>
              </a:rPr>
              <a:t>Beaucoup de vocabulaires </a:t>
            </a:r>
            <a:r>
              <a:rPr lang="fr-FR" sz="1400" b="0" i="0" dirty="0" err="1">
                <a:solidFill>
                  <a:srgbClr val="52605F"/>
                </a:solidFill>
                <a:latin typeface="Calibri"/>
              </a:rPr>
              <a:t>Loterre</a:t>
            </a:r>
            <a:r>
              <a:rPr lang="fr-FR" sz="1400" b="0" i="0" dirty="0">
                <a:solidFill>
                  <a:srgbClr val="52605F"/>
                </a:solidFill>
                <a:latin typeface="Calibri"/>
              </a:rPr>
              <a:t> ne sont pas à jour</a:t>
            </a:r>
            <a:endParaRPr sz="1400" b="0" i="0" dirty="0">
              <a:solidFill>
                <a:srgbClr val="52605F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601656" y="2776805"/>
            <a:ext cx="3637280" cy="45719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6601656" y="2814905"/>
            <a:ext cx="3637280" cy="3110133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6766248" y="2942922"/>
            <a:ext cx="3127248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 spc="80">
                <a:solidFill>
                  <a:srgbClr val="0E6B66"/>
                </a:solidFill>
                <a:latin typeface="Consolas"/>
              </a:rPr>
              <a:t>OBJECTIF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248" y="3253818"/>
            <a:ext cx="3127248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Proposer, pas décider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248" y="3619578"/>
            <a:ext cx="3127248" cy="2051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fr-FR" sz="1400" b="0" i="0" dirty="0">
                <a:solidFill>
                  <a:srgbClr val="52605F"/>
                </a:solidFill>
                <a:latin typeface="Calibri"/>
              </a:rPr>
              <a:t>Comparer une terminologie avec le contenu du texte pour </a:t>
            </a:r>
            <a:r>
              <a:rPr lang="fr-FR" sz="1400" dirty="0">
                <a:solidFill>
                  <a:srgbClr val="52605F"/>
                </a:solidFill>
                <a:latin typeface="Calibri"/>
              </a:rPr>
              <a:t>é</a:t>
            </a:r>
            <a:r>
              <a:rPr lang="fr-FR" sz="1400" b="0" i="0" dirty="0">
                <a:solidFill>
                  <a:srgbClr val="52605F"/>
                </a:solidFill>
                <a:latin typeface="Calibri"/>
              </a:rPr>
              <a:t>valuer la couverture de cette dernière</a:t>
            </a:r>
            <a:br>
              <a:rPr lang="fr-FR" sz="1400" b="0" i="0" dirty="0">
                <a:solidFill>
                  <a:srgbClr val="52605F"/>
                </a:solidFill>
                <a:latin typeface="Calibri"/>
              </a:rPr>
            </a:br>
            <a:br>
              <a:rPr lang="fr-FR" sz="1400" b="0" i="0" dirty="0">
                <a:solidFill>
                  <a:srgbClr val="52605F"/>
                </a:solidFill>
                <a:latin typeface="Calibri"/>
              </a:rPr>
            </a:br>
            <a:r>
              <a:rPr sz="1400" b="0" i="0" dirty="0">
                <a:solidFill>
                  <a:srgbClr val="52605F"/>
                </a:solidFill>
                <a:latin typeface="Calibri"/>
              </a:rPr>
              <a:t>Faire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remonter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des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candidats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plausibles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depuis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un corpus</a:t>
            </a:r>
            <a:endParaRPr lang="fr-FR" sz="1400" b="0" i="0" dirty="0">
              <a:solidFill>
                <a:srgbClr val="52605F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lang="fr-FR" sz="1400" dirty="0">
              <a:solidFill>
                <a:srgbClr val="52605F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fr-FR" sz="1400" b="0" i="0" dirty="0">
                <a:solidFill>
                  <a:srgbClr val="52605F"/>
                </a:solidFill>
                <a:latin typeface="Calibri"/>
              </a:rPr>
              <a:t>L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e </a:t>
            </a:r>
            <a:r>
              <a:rPr lang="fr-FR" sz="1400" dirty="0">
                <a:solidFill>
                  <a:srgbClr val="52605F"/>
                </a:solidFill>
                <a:latin typeface="Calibri"/>
              </a:rPr>
              <a:t>terminologue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garde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décision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finale</a:t>
            </a:r>
            <a:endParaRPr lang="fr-FR" sz="1400" dirty="0">
              <a:solidFill>
                <a:srgbClr val="52605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914400" cy="182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7C8886"/>
                </a:solidFill>
                <a:latin typeface="Consolas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5957" y="137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140" dirty="0">
                <a:solidFill>
                  <a:srgbClr val="7C8886"/>
                </a:solidFill>
                <a:latin typeface="Consolas"/>
              </a:rPr>
              <a:t>L'OUTIL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429"/>
                </a:solidFill>
                <a:latin typeface="Cambria"/>
              </a:rPr>
              <a:t>Trois façons de l'utiliser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83883"/>
            <a:ext cx="3456432" cy="38100"/>
          </a:xfrm>
          <a:prstGeom prst="rect">
            <a:avLst/>
          </a:prstGeom>
          <a:solidFill>
            <a:srgbClr val="52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640080" y="2221983"/>
            <a:ext cx="3520440" cy="3045654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04672" y="2349999"/>
            <a:ext cx="3127248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 spc="80">
                <a:solidFill>
                  <a:srgbClr val="52605F"/>
                </a:solidFill>
                <a:latin typeface="Consolas"/>
              </a:rPr>
              <a:t>ANNOTATE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60895"/>
            <a:ext cx="3127248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Reconnaître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26655"/>
            <a:ext cx="3127248" cy="758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52605F"/>
                </a:solidFill>
                <a:latin typeface="Calibri"/>
              </a:rPr>
              <a:t>Repère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dans un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texte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les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termes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déjà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présents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dans un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vocabulaire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Loterre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. Le mode </a:t>
            </a:r>
            <a:r>
              <a:rPr lang="fr-FR" sz="1400" b="0" i="0" dirty="0">
                <a:solidFill>
                  <a:srgbClr val="52605F"/>
                </a:solidFill>
                <a:latin typeface="Calibri"/>
              </a:rPr>
              <a:t>"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historique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(v1.0)</a:t>
            </a:r>
            <a:r>
              <a:rPr lang="fr-FR" sz="1400" b="0" i="0" dirty="0">
                <a:solidFill>
                  <a:srgbClr val="52605F"/>
                </a:solidFill>
                <a:latin typeface="Calibri"/>
              </a:rPr>
              <a:t>"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4479027"/>
            <a:ext cx="3127248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04672" y="4570467"/>
            <a:ext cx="3127248" cy="618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dirty="0" err="1">
                <a:solidFill>
                  <a:srgbClr val="7C8886"/>
                </a:solidFill>
                <a:latin typeface="Consolas"/>
              </a:rPr>
              <a:t>Moteur</a:t>
            </a:r>
            <a:r>
              <a:rPr sz="1100" b="0" i="0" dirty="0">
                <a:solidFill>
                  <a:srgbClr val="7C8886"/>
                </a:solidFill>
                <a:latin typeface="Consolas"/>
              </a:rPr>
              <a:t> 5 passes + </a:t>
            </a:r>
            <a:r>
              <a:rPr sz="1100" b="0" i="0" dirty="0" err="1">
                <a:solidFill>
                  <a:srgbClr val="7C8886"/>
                </a:solidFill>
                <a:latin typeface="Consolas"/>
              </a:rPr>
              <a:t>Trie</a:t>
            </a:r>
            <a:r>
              <a:rPr lang="fr-FR" sz="1100" b="0" i="0" dirty="0">
                <a:solidFill>
                  <a:srgbClr val="7C8886"/>
                </a:solidFill>
                <a:latin typeface="Consolas"/>
              </a:rPr>
              <a:t> </a:t>
            </a:r>
            <a:endParaRPr sz="1100" b="0" i="0" dirty="0">
              <a:solidFill>
                <a:srgbClr val="7C8886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dirty="0">
                <a:solidFill>
                  <a:srgbClr val="7C8886"/>
                </a:solidFill>
                <a:latin typeface="Consolas"/>
              </a:rPr>
              <a:t>lookup direct dans dictionary/*.</a:t>
            </a:r>
            <a:r>
              <a:rPr sz="1100" b="0" i="0" dirty="0" err="1">
                <a:solidFill>
                  <a:srgbClr val="7C8886"/>
                </a:solidFill>
                <a:latin typeface="Consolas"/>
              </a:rPr>
              <a:t>jsonl</a:t>
            </a:r>
            <a:br>
              <a:rPr lang="fr-FR" sz="1100" b="0" i="0" dirty="0">
                <a:solidFill>
                  <a:srgbClr val="7C8886"/>
                </a:solidFill>
                <a:latin typeface="Consolas"/>
              </a:rPr>
            </a:br>
            <a:r>
              <a:rPr lang="fr-FR" sz="1100" dirty="0" err="1"/>
              <a:t>spaCy</a:t>
            </a:r>
            <a:r>
              <a:rPr lang="fr-FR" sz="1100" dirty="0"/>
              <a:t> </a:t>
            </a:r>
            <a:endParaRPr sz="1100" b="0" i="0" dirty="0">
              <a:solidFill>
                <a:srgbClr val="7C8886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5112" y="2183883"/>
            <a:ext cx="3456432" cy="38100"/>
          </a:xfrm>
          <a:prstGeom prst="rect">
            <a:avLst/>
          </a:prstGeom>
          <a:solidFill>
            <a:srgbClr val="52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ectangle 13"/>
          <p:cNvSpPr/>
          <p:nvPr/>
        </p:nvSpPr>
        <p:spPr>
          <a:xfrm>
            <a:off x="4325112" y="2221983"/>
            <a:ext cx="3456432" cy="3045654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4489704" y="2349999"/>
            <a:ext cx="3127248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 spc="80">
                <a:solidFill>
                  <a:srgbClr val="52605F"/>
                </a:solidFill>
                <a:latin typeface="Consolas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660895"/>
            <a:ext cx="3127248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 dirty="0" err="1">
                <a:solidFill>
                  <a:srgbClr val="1B2429"/>
                </a:solidFill>
                <a:latin typeface="Cambria"/>
              </a:rPr>
              <a:t>Découvrir</a:t>
            </a:r>
            <a:r>
              <a:rPr b="1" i="0" dirty="0">
                <a:solidFill>
                  <a:srgbClr val="1B2429"/>
                </a:solidFill>
                <a:latin typeface="Cambria"/>
              </a:rPr>
              <a:t> </a:t>
            </a:r>
            <a:r>
              <a:rPr lang="fr-FR" b="1" i="0" dirty="0">
                <a:solidFill>
                  <a:srgbClr val="1B2429"/>
                </a:solidFill>
                <a:latin typeface="Cambria"/>
              </a:rPr>
              <a:t>"</a:t>
            </a:r>
            <a:r>
              <a:rPr b="1" i="0" dirty="0">
                <a:solidFill>
                  <a:srgbClr val="1B2429"/>
                </a:solidFill>
                <a:latin typeface="Cambria"/>
              </a:rPr>
              <a:t>à </a:t>
            </a:r>
            <a:r>
              <a:rPr b="1" i="0" dirty="0" err="1">
                <a:solidFill>
                  <a:srgbClr val="1B2429"/>
                </a:solidFill>
                <a:latin typeface="Cambria"/>
              </a:rPr>
              <a:t>froid</a:t>
            </a:r>
            <a:r>
              <a:rPr lang="fr-FR" b="1" i="0" dirty="0">
                <a:solidFill>
                  <a:srgbClr val="1B2429"/>
                </a:solidFill>
                <a:latin typeface="Cambria"/>
              </a:rPr>
              <a:t>"</a:t>
            </a:r>
            <a:endParaRPr b="1" i="0" dirty="0">
              <a:solidFill>
                <a:srgbClr val="1B2429"/>
              </a:solidFill>
              <a:latin typeface="Cambri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89704" y="3026655"/>
            <a:ext cx="3127248" cy="758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605F"/>
                </a:solidFill>
                <a:latin typeface="Calibri"/>
              </a:rPr>
              <a:t>Propose des candidats-termes sans aucun vocabulaire de référence — explorer un domaine depuis zéro.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9704" y="4479027"/>
            <a:ext cx="3127248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4489704" y="4570467"/>
            <a:ext cx="3127248" cy="618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dirty="0">
                <a:solidFill>
                  <a:srgbClr val="7C8886"/>
                </a:solidFill>
                <a:latin typeface="Consolas"/>
              </a:rPr>
              <a:t>--extractor </a:t>
            </a:r>
            <a:r>
              <a:rPr sz="1100" b="0" i="0" dirty="0" err="1">
                <a:solidFill>
                  <a:srgbClr val="7C8886"/>
                </a:solidFill>
                <a:latin typeface="Consolas"/>
              </a:rPr>
              <a:t>ncvalue|graph</a:t>
            </a:r>
            <a:r>
              <a:rPr lang="fr-FR" sz="1100" b="0" i="0" dirty="0">
                <a:solidFill>
                  <a:srgbClr val="7C8886"/>
                </a:solidFill>
                <a:latin typeface="Consolas"/>
              </a:rPr>
              <a:t>|</a:t>
            </a:r>
            <a:r>
              <a:rPr lang="fr-FR" sz="1100" b="0" i="0" dirty="0" err="1">
                <a:solidFill>
                  <a:srgbClr val="7C8886"/>
                </a:solidFill>
                <a:latin typeface="Consolas"/>
              </a:rPr>
              <a:t>embed</a:t>
            </a:r>
            <a:endParaRPr sz="1100" b="0" i="0" dirty="0">
              <a:solidFill>
                <a:srgbClr val="7C8886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dirty="0">
                <a:solidFill>
                  <a:srgbClr val="7C8886"/>
                </a:solidFill>
                <a:latin typeface="Consolas"/>
              </a:rPr>
              <a:t>NC-value (</a:t>
            </a:r>
            <a:r>
              <a:rPr sz="1100" b="0" i="0" dirty="0" err="1">
                <a:solidFill>
                  <a:srgbClr val="7C8886"/>
                </a:solidFill>
                <a:latin typeface="Consolas"/>
              </a:rPr>
              <a:t>Frantzi</a:t>
            </a:r>
            <a:r>
              <a:rPr sz="1100" b="0" i="0" dirty="0">
                <a:solidFill>
                  <a:srgbClr val="7C8886"/>
                </a:solidFill>
                <a:latin typeface="Consolas"/>
              </a:rPr>
              <a:t> 2000) / </a:t>
            </a:r>
            <a:r>
              <a:rPr sz="1100" b="0" i="0" dirty="0" err="1">
                <a:solidFill>
                  <a:srgbClr val="7C8886"/>
                </a:solidFill>
                <a:latin typeface="Consolas"/>
              </a:rPr>
              <a:t>PositionRank</a:t>
            </a:r>
            <a:r>
              <a:rPr sz="1100" b="0" i="0" dirty="0">
                <a:solidFill>
                  <a:srgbClr val="7C8886"/>
                </a:solidFill>
                <a:latin typeface="Consolas"/>
              </a:rPr>
              <a:t> (</a:t>
            </a:r>
            <a:r>
              <a:rPr sz="1100" b="0" i="0" dirty="0" err="1">
                <a:solidFill>
                  <a:srgbClr val="7C8886"/>
                </a:solidFill>
                <a:latin typeface="Consolas"/>
              </a:rPr>
              <a:t>Florescu</a:t>
            </a:r>
            <a:r>
              <a:rPr sz="1100" b="0" i="0" dirty="0">
                <a:solidFill>
                  <a:srgbClr val="7C8886"/>
                </a:solidFill>
                <a:latin typeface="Consolas"/>
              </a:rPr>
              <a:t> 2017)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2183883"/>
            <a:ext cx="3456432" cy="381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8010144" y="2221983"/>
            <a:ext cx="3541776" cy="3045654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8174736" y="2349999"/>
            <a:ext cx="3127248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 spc="80">
                <a:solidFill>
                  <a:srgbClr val="0E6B66"/>
                </a:solidFill>
                <a:latin typeface="Consolas"/>
              </a:rPr>
              <a:t>EXTRACT_ANNOTATE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2660895"/>
            <a:ext cx="3127248" cy="291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Mettre à jour  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3026655"/>
            <a:ext cx="3127248" cy="758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605F"/>
                </a:solidFill>
                <a:latin typeface="Calibri"/>
              </a:rPr>
              <a:t>Extrait des candidats et les compare au vocabulaire cible. Notre pipeline prioritaire.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4479027"/>
            <a:ext cx="3127248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8174736" y="4570467"/>
            <a:ext cx="3127248" cy="618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dirty="0">
                <a:solidFill>
                  <a:srgbClr val="7C8886"/>
                </a:solidFill>
                <a:latin typeface="Consolas"/>
              </a:rPr>
              <a:t>--extractor embed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dirty="0" err="1">
                <a:solidFill>
                  <a:srgbClr val="7C8886"/>
                </a:solidFill>
                <a:latin typeface="Consolas"/>
              </a:rPr>
              <a:t>MiniLM</a:t>
            </a:r>
            <a:r>
              <a:rPr sz="1100" b="0" i="0" dirty="0">
                <a:solidFill>
                  <a:srgbClr val="7C8886"/>
                </a:solidFill>
                <a:latin typeface="Consolas"/>
              </a:rPr>
              <a:t> 118 Mo, </a:t>
            </a:r>
            <a:r>
              <a:rPr sz="1100" b="0" i="0" dirty="0" err="1">
                <a:solidFill>
                  <a:srgbClr val="7C8886"/>
                </a:solidFill>
                <a:latin typeface="Consolas"/>
              </a:rPr>
              <a:t>cosinus</a:t>
            </a:r>
            <a:r>
              <a:rPr sz="1100" b="0" i="0" dirty="0">
                <a:solidFill>
                  <a:srgbClr val="7C8886"/>
                </a:solidFill>
                <a:latin typeface="Consolas"/>
              </a:rPr>
              <a:t> au plus </a:t>
            </a:r>
            <a:r>
              <a:rPr sz="1100" b="0" i="0" dirty="0" err="1">
                <a:solidFill>
                  <a:srgbClr val="7C8886"/>
                </a:solidFill>
                <a:latin typeface="Consolas"/>
              </a:rPr>
              <a:t>proche</a:t>
            </a:r>
            <a:r>
              <a:rPr sz="1100" b="0" i="0" dirty="0">
                <a:solidFill>
                  <a:srgbClr val="7C8886"/>
                </a:solidFill>
                <a:latin typeface="Consolas"/>
              </a:rPr>
              <a:t> </a:t>
            </a:r>
            <a:r>
              <a:rPr sz="1100" b="0" i="0" dirty="0" err="1">
                <a:solidFill>
                  <a:srgbClr val="7C8886"/>
                </a:solidFill>
                <a:latin typeface="Consolas"/>
              </a:rPr>
              <a:t>voisin</a:t>
            </a:r>
            <a:endParaRPr sz="1100" b="0" i="0" dirty="0">
              <a:solidFill>
                <a:srgbClr val="7C8886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140" dirty="0">
                <a:solidFill>
                  <a:srgbClr val="7C8886"/>
                </a:solidFill>
                <a:latin typeface="Consolas"/>
              </a:rPr>
              <a:t>LE MÉCANISME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429"/>
                </a:solidFill>
                <a:latin typeface="Cambria"/>
              </a:rPr>
              <a:t>Du texte à la suggestion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8961120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b="0" i="0">
                <a:solidFill>
                  <a:srgbClr val="52605F"/>
                </a:solidFill>
                <a:latin typeface="Calibri"/>
              </a:rPr>
              <a:t>Quatre étapes, aucune ne remplace le jugement du curateur — chacune réduit ce qu'il doit relire.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08960"/>
            <a:ext cx="2331720" cy="45720"/>
          </a:xfrm>
          <a:prstGeom prst="rect">
            <a:avLst/>
          </a:prstGeom>
          <a:solidFill>
            <a:srgbClr val="7C8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640080" y="3154680"/>
            <a:ext cx="2331720" cy="187452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04672" y="3310128"/>
            <a:ext cx="2002536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C8886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611880"/>
            <a:ext cx="2002536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Corpus de texte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023360"/>
            <a:ext cx="2002536" cy="499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605F"/>
                </a:solidFill>
                <a:latin typeface="Calibri"/>
              </a:rPr>
              <a:t>Articles, rapports — FR ou 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931920"/>
            <a:ext cx="320040" cy="399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7C888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108960"/>
            <a:ext cx="2331720" cy="45720"/>
          </a:xfrm>
          <a:prstGeom prst="rect">
            <a:avLst/>
          </a:prstGeom>
          <a:solidFill>
            <a:srgbClr val="7C8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3291840" y="3154680"/>
            <a:ext cx="2331720" cy="187452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3456432" y="3310128"/>
            <a:ext cx="2002536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C8886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611880"/>
            <a:ext cx="2002536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Candidats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4023360"/>
            <a:ext cx="2002536" cy="499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605F"/>
                </a:solidFill>
                <a:latin typeface="Calibri"/>
              </a:rPr>
              <a:t>Expressions repérées automatiquement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931920"/>
            <a:ext cx="320040" cy="399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7C888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108960"/>
            <a:ext cx="2331720" cy="45720"/>
          </a:xfrm>
          <a:prstGeom prst="rect">
            <a:avLst/>
          </a:prstGeom>
          <a:solidFill>
            <a:srgbClr val="7C88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/>
          <p:cNvSpPr/>
          <p:nvPr/>
        </p:nvSpPr>
        <p:spPr>
          <a:xfrm>
            <a:off x="5943600" y="3154680"/>
            <a:ext cx="2331720" cy="187452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108192" y="3310128"/>
            <a:ext cx="2002536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C8886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3611880"/>
            <a:ext cx="2002536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Comparaison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4023360"/>
            <a:ext cx="2002536" cy="499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605F"/>
                </a:solidFill>
                <a:latin typeface="Calibri"/>
              </a:rPr>
              <a:t>Proximité de sens avec le vocabulaire cible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931920"/>
            <a:ext cx="320040" cy="399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7C8886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3108960"/>
            <a:ext cx="2331720" cy="4572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8595360" y="3154680"/>
            <a:ext cx="2331720" cy="187452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8759952" y="3310128"/>
            <a:ext cx="2002536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C8886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3611880"/>
            <a:ext cx="2002536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Suggestions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9952" y="4023360"/>
            <a:ext cx="2002536" cy="241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605F"/>
                </a:solidFill>
                <a:latin typeface="Calibri"/>
              </a:rPr>
              <a:t>Listes triées, pour relecture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3772" y="17373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140">
                <a:solidFill>
                  <a:srgbClr val="7C8886"/>
                </a:solidFill>
                <a:latin typeface="Consolas"/>
              </a:rPr>
              <a:t>LES SUGGESTIONS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68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 dirty="0">
                <a:solidFill>
                  <a:srgbClr val="1B2429"/>
                </a:solidFill>
                <a:latin typeface="Cambria"/>
              </a:rPr>
              <a:t>Trois</a:t>
            </a:r>
            <a:r>
              <a:rPr lang="fr-FR" sz="3200" b="1" i="0" dirty="0">
                <a:solidFill>
                  <a:srgbClr val="1B2429"/>
                </a:solidFill>
                <a:latin typeface="Cambria"/>
              </a:rPr>
              <a:t> indicateurs =&gt; trois</a:t>
            </a:r>
            <a:r>
              <a:rPr sz="3200" b="1" i="0" dirty="0">
                <a:solidFill>
                  <a:srgbClr val="1B2429"/>
                </a:solidFill>
                <a:latin typeface="Cambria"/>
              </a:rPr>
              <a:t> </a:t>
            </a:r>
            <a:r>
              <a:rPr sz="3200" b="1" i="0" dirty="0" err="1">
                <a:solidFill>
                  <a:srgbClr val="1B2429"/>
                </a:solidFill>
                <a:latin typeface="Cambria"/>
              </a:rPr>
              <a:t>listes</a:t>
            </a:r>
            <a:endParaRPr sz="3200" b="1" i="0" dirty="0">
              <a:solidFill>
                <a:srgbClr val="1B2429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8961120" cy="28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52605F"/>
                </a:solidFill>
                <a:latin typeface="Calibri"/>
              </a:rPr>
              <a:t>Chaque</a:t>
            </a:r>
            <a:r>
              <a:rPr sz="16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lang="fr-FR" sz="1600" b="0" i="0" dirty="0">
                <a:solidFill>
                  <a:srgbClr val="52605F"/>
                </a:solidFill>
                <a:latin typeface="Calibri"/>
              </a:rPr>
              <a:t>indicateur</a:t>
            </a:r>
            <a:r>
              <a:rPr sz="1600" b="0" i="0" dirty="0">
                <a:solidFill>
                  <a:srgbClr val="52605F"/>
                </a:solidFill>
                <a:latin typeface="Calibri"/>
              </a:rPr>
              <a:t> a </a:t>
            </a:r>
            <a:r>
              <a:rPr sz="1600" b="0" i="0" dirty="0" err="1">
                <a:solidFill>
                  <a:srgbClr val="52605F"/>
                </a:solidFill>
                <a:latin typeface="Calibri"/>
              </a:rPr>
              <a:t>une</a:t>
            </a:r>
            <a:r>
              <a:rPr sz="16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2605F"/>
                </a:solidFill>
                <a:latin typeface="Calibri"/>
              </a:rPr>
              <a:t>fiabilité</a:t>
            </a:r>
            <a:r>
              <a:rPr sz="16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2605F"/>
                </a:solidFill>
                <a:latin typeface="Calibri"/>
              </a:rPr>
              <a:t>différente</a:t>
            </a:r>
            <a:endParaRPr sz="1600" b="0" i="0" dirty="0">
              <a:solidFill>
                <a:srgbClr val="52605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2880360"/>
            <a:ext cx="3456432" cy="381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918460"/>
            <a:ext cx="3456432" cy="243078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046476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80">
                <a:solidFill>
                  <a:srgbClr val="0E6B66"/>
                </a:solidFill>
                <a:latin typeface="Consolas"/>
              </a:rPr>
              <a:t>SÉMANTIQUE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57372"/>
            <a:ext cx="3127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B2429"/>
                </a:solidFill>
                <a:latin typeface="Cambria"/>
              </a:rPr>
              <a:t>Proche d'un terme connu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23132"/>
            <a:ext cx="3127248" cy="1516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Similarité de sens avec le vocabulaire, mesurée par IA légère.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965191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2605F"/>
                </a:solidFill>
                <a:latin typeface="Consolas"/>
              </a:rPr>
              <a:t>0.86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212080"/>
            <a:ext cx="2304288" cy="5080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" y="5212080"/>
            <a:ext cx="1981687" cy="508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5112" y="2880360"/>
            <a:ext cx="3456432" cy="38100"/>
          </a:xfrm>
          <a:prstGeom prst="rect">
            <a:avLst/>
          </a:prstGeom>
          <a:solidFill>
            <a:srgbClr val="A87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5112" y="2918460"/>
            <a:ext cx="3456432" cy="243078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4" y="3046476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80">
                <a:solidFill>
                  <a:srgbClr val="A8752A"/>
                </a:solidFill>
                <a:latin typeface="Consolas"/>
              </a:rPr>
              <a:t>STRUCTUREL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3357372"/>
            <a:ext cx="3127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B2429"/>
                </a:solidFill>
                <a:latin typeface="Cambria"/>
              </a:rPr>
              <a:t>Profil de terme important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3723132"/>
            <a:ext cx="3127248" cy="410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 dirty="0" err="1">
                <a:solidFill>
                  <a:srgbClr val="52605F"/>
                </a:solidFill>
                <a:latin typeface="Calibri"/>
              </a:rPr>
              <a:t>Fréquence</a:t>
            </a:r>
            <a:r>
              <a:rPr sz="1150" b="0" i="0" dirty="0">
                <a:solidFill>
                  <a:srgbClr val="52605F"/>
                </a:solidFill>
                <a:latin typeface="Calibri"/>
              </a:rPr>
              <a:t> et position dans le </a:t>
            </a:r>
            <a:r>
              <a:rPr sz="1150" b="0" i="0" dirty="0" err="1">
                <a:solidFill>
                  <a:srgbClr val="52605F"/>
                </a:solidFill>
                <a:latin typeface="Calibri"/>
              </a:rPr>
              <a:t>texte</a:t>
            </a:r>
            <a:r>
              <a:rPr sz="1150" b="0" i="0" dirty="0">
                <a:solidFill>
                  <a:srgbClr val="52605F"/>
                </a:solidFill>
                <a:latin typeface="Calibri"/>
              </a:rPr>
              <a:t> — </a:t>
            </a:r>
            <a:r>
              <a:rPr sz="1150" b="0" i="0" dirty="0" err="1">
                <a:solidFill>
                  <a:srgbClr val="52605F"/>
                </a:solidFill>
                <a:latin typeface="Calibri"/>
              </a:rPr>
              <a:t>indépendant</a:t>
            </a:r>
            <a:r>
              <a:rPr sz="1150" b="0" i="0" dirty="0">
                <a:solidFill>
                  <a:srgbClr val="52605F"/>
                </a:solidFill>
                <a:latin typeface="Calibri"/>
              </a:rPr>
              <a:t> du </a:t>
            </a:r>
            <a:r>
              <a:rPr sz="1150" b="0" i="0" dirty="0" err="1">
                <a:solidFill>
                  <a:srgbClr val="52605F"/>
                </a:solidFill>
                <a:latin typeface="Calibri"/>
              </a:rPr>
              <a:t>vocabulaire</a:t>
            </a:r>
            <a:r>
              <a:rPr sz="1150" b="0" i="0" dirty="0">
                <a:solidFill>
                  <a:srgbClr val="52605F"/>
                </a:solidFill>
                <a:latin typeface="Calibri"/>
              </a:rPr>
              <a:t>.</a:t>
            </a:r>
            <a:r>
              <a:rPr lang="fr-FR" sz="1150" dirty="0">
                <a:solidFill>
                  <a:srgbClr val="52605F"/>
                </a:solidFill>
                <a:latin typeface="Calibri"/>
              </a:rPr>
              <a:t> Orienté </a:t>
            </a:r>
            <a:r>
              <a:rPr lang="fr-FR" sz="1150" dirty="0" err="1">
                <a:solidFill>
                  <a:srgbClr val="52605F"/>
                </a:solidFill>
                <a:latin typeface="Calibri"/>
              </a:rPr>
              <a:t>Mot-clés</a:t>
            </a:r>
            <a:endParaRPr sz="1150" b="0" i="0" dirty="0">
              <a:solidFill>
                <a:srgbClr val="52605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89704" y="4965191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2605F"/>
                </a:solidFill>
                <a:latin typeface="Consolas"/>
              </a:rPr>
              <a:t>0.57–0.64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9704" y="5212080"/>
            <a:ext cx="2304288" cy="5080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9704" y="5212080"/>
            <a:ext cx="1382572" cy="50800"/>
          </a:xfrm>
          <a:prstGeom prst="rect">
            <a:avLst/>
          </a:prstGeom>
          <a:solidFill>
            <a:srgbClr val="A87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10144" y="2880360"/>
            <a:ext cx="3456432" cy="38100"/>
          </a:xfrm>
          <a:prstGeom prst="rect">
            <a:avLst/>
          </a:prstGeom>
          <a:solidFill>
            <a:srgbClr val="6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10144" y="2918460"/>
            <a:ext cx="3456432" cy="243078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74736" y="3046476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80">
                <a:solidFill>
                  <a:srgbClr val="6E5A8C"/>
                </a:solidFill>
                <a:latin typeface="Consolas"/>
              </a:rPr>
              <a:t>SPÉCIFICITÉ · OPTIONNEL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3357372"/>
            <a:ext cx="3127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B2429"/>
                </a:solidFill>
                <a:latin typeface="Cambria"/>
              </a:rPr>
              <a:t>Mot rare vs langue courante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3723132"/>
            <a:ext cx="3127248" cy="1516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Contraste de fréquence — signal le plus bruité, désactivé par défaut.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965191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2605F"/>
                </a:solidFill>
                <a:latin typeface="Consolas"/>
              </a:rPr>
              <a:t>0.27–0.30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74736" y="5212080"/>
            <a:ext cx="2304288" cy="5080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74736" y="5212080"/>
            <a:ext cx="668243" cy="50800"/>
          </a:xfrm>
          <a:prstGeom prst="rect">
            <a:avLst/>
          </a:prstGeom>
          <a:solidFill>
            <a:srgbClr val="6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5957" y="18008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140" dirty="0">
                <a:solidFill>
                  <a:srgbClr val="7C8886"/>
                </a:solidFill>
                <a:latin typeface="Consolas"/>
              </a:rPr>
              <a:t>GUIDE DU CURATEUR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429"/>
                </a:solidFill>
                <a:latin typeface="Cambria"/>
              </a:rPr>
              <a:t>Consigne de travail : traiter les listes dans l'ordre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337" y="1775990"/>
            <a:ext cx="9809089" cy="555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52605F"/>
                </a:solidFill>
                <a:latin typeface="Calibri"/>
              </a:rPr>
              <a:t>Règle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de base : ne jamais lire les scores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bruts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.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Seuls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les trois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statuts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déjà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seuillés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guident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la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décision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— et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toujours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dans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l'ordre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1 → 2 → 3.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78024"/>
            <a:ext cx="384048" cy="384048"/>
          </a:xfrm>
          <a:prstGeom prst="ellipse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23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B2429"/>
                </a:solidFill>
                <a:latin typeface="Cambria"/>
              </a:rPr>
              <a:t>Sémantique — en premier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88920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2605F"/>
                </a:solidFill>
                <a:latin typeface="Calibri"/>
              </a:rPr>
              <a:t>Revue rapide, validation quasi en 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81528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0E6B66"/>
                </a:solidFill>
                <a:latin typeface="Consolas"/>
              </a:rPr>
              <a:t>P ≈ 0.86 · ~1 candidat sur 7 à rejeter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02152"/>
            <a:ext cx="10881360" cy="1270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" y="3712464"/>
            <a:ext cx="384048" cy="384048"/>
          </a:xfrm>
          <a:prstGeom prst="ellipse">
            <a:avLst/>
          </a:prstGeom>
          <a:solidFill>
            <a:srgbClr val="A87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57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1B2429"/>
                </a:solidFill>
                <a:latin typeface="Cambria"/>
              </a:rPr>
              <a:t>Structurel</a:t>
            </a:r>
            <a:r>
              <a:rPr sz="1600" b="1" i="0" dirty="0">
                <a:solidFill>
                  <a:srgbClr val="1B2429"/>
                </a:solidFill>
                <a:latin typeface="Cambria"/>
              </a:rPr>
              <a:t> — </a:t>
            </a:r>
            <a:r>
              <a:rPr sz="1600" b="1" i="0" dirty="0" err="1">
                <a:solidFill>
                  <a:srgbClr val="1B2429"/>
                </a:solidFill>
                <a:latin typeface="Cambria"/>
              </a:rPr>
              <a:t>ensuite</a:t>
            </a:r>
            <a:r>
              <a:rPr sz="1600" b="1" i="0" dirty="0">
                <a:solidFill>
                  <a:srgbClr val="1B2429"/>
                </a:solidFill>
                <a:latin typeface="Cambria"/>
              </a:rPr>
              <a:t>, </a:t>
            </a:r>
            <a:r>
              <a:rPr sz="1600" b="1" i="0" dirty="0" err="1">
                <a:solidFill>
                  <a:srgbClr val="1B2429"/>
                </a:solidFill>
                <a:latin typeface="Cambria"/>
              </a:rPr>
              <a:t>séparément</a:t>
            </a:r>
            <a:endParaRPr sz="1600" b="1" i="0" dirty="0">
              <a:solidFill>
                <a:srgbClr val="1B2429"/>
              </a:solidFill>
              <a:latin typeface="Cambr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34440" y="4023360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2605F"/>
                </a:solidFill>
                <a:latin typeface="Calibri"/>
              </a:rPr>
              <a:t>Lecture individuelle avec le contexte, jamais de 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315968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8752A"/>
                </a:solidFill>
                <a:latin typeface="Consolas"/>
              </a:rPr>
              <a:t>P ≈ 0.57–0.64 · plus de bruit attendu, pas une anomalie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36592"/>
            <a:ext cx="10881360" cy="1270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" y="4946904"/>
            <a:ext cx="384048" cy="384048"/>
          </a:xfrm>
          <a:prstGeom prst="ellipse">
            <a:avLst/>
          </a:prstGeom>
          <a:solidFill>
            <a:srgbClr val="6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892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B2429"/>
                </a:solidFill>
                <a:latin typeface="Cambria"/>
              </a:rPr>
              <a:t>Spécificité — en dernier, si activée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257800"/>
            <a:ext cx="9326880" cy="208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dirty="0" err="1">
                <a:solidFill>
                  <a:srgbClr val="52605F"/>
                </a:solidFill>
                <a:latin typeface="Calibri"/>
              </a:rPr>
              <a:t>Liste</a:t>
            </a:r>
            <a:r>
              <a:rPr sz="125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2605F"/>
                </a:solidFill>
                <a:latin typeface="Calibri"/>
              </a:rPr>
              <a:t>exploratoire</a:t>
            </a:r>
            <a:r>
              <a:rPr sz="1250" b="0" i="0" dirty="0">
                <a:solidFill>
                  <a:srgbClr val="52605F"/>
                </a:solidFill>
                <a:latin typeface="Calibri"/>
              </a:rPr>
              <a:t>, tri </a:t>
            </a:r>
            <a:r>
              <a:rPr sz="1250" b="0" i="0" dirty="0" err="1">
                <a:solidFill>
                  <a:srgbClr val="52605F"/>
                </a:solidFill>
                <a:latin typeface="Calibri"/>
              </a:rPr>
              <a:t>manuel</a:t>
            </a:r>
            <a:r>
              <a:rPr sz="1250" b="0" i="0" dirty="0">
                <a:solidFill>
                  <a:srgbClr val="52605F"/>
                </a:solidFill>
                <a:latin typeface="Calibri"/>
              </a:rPr>
              <a:t> plus </a:t>
            </a:r>
            <a:r>
              <a:rPr sz="1250" b="0" i="0" dirty="0" err="1">
                <a:solidFill>
                  <a:srgbClr val="52605F"/>
                </a:solidFill>
                <a:latin typeface="Calibri"/>
              </a:rPr>
              <a:t>lourd</a:t>
            </a:r>
            <a:endParaRPr sz="1250" b="0" i="0" dirty="0">
              <a:solidFill>
                <a:srgbClr val="52605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34440" y="5550408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E5A8C"/>
                </a:solidFill>
                <a:latin typeface="Consolas"/>
              </a:rPr>
              <a:t>P ≈ 0.27–0.30 · ~1 candidat sur 3–4 pertinent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971032"/>
            <a:ext cx="10881360" cy="1270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6217920"/>
            <a:ext cx="10881360" cy="502920"/>
          </a:xfrm>
          <a:prstGeom prst="rect">
            <a:avLst/>
          </a:prstGeom>
          <a:solidFill>
            <a:srgbClr val="F2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21792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7C8886"/>
                </a:solidFill>
                <a:latin typeface="Consolas"/>
              </a:rPr>
              <a:t>in_vocabulary = True → rien à faire     ·     aucune des 3 listes → hors périmètre     ·     jamais comparer les scores bruts entre eux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7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2510" y="1752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140" dirty="0">
                <a:solidFill>
                  <a:srgbClr val="7C8886"/>
                </a:solidFill>
                <a:latin typeface="Consolas"/>
              </a:rPr>
              <a:t>RÉSULTATS MESURÉS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68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 dirty="0" err="1">
                <a:solidFill>
                  <a:srgbClr val="1B2429"/>
                </a:solidFill>
                <a:latin typeface="Cambria"/>
              </a:rPr>
              <a:t>Testé</a:t>
            </a:r>
            <a:r>
              <a:rPr sz="3200" b="1" i="0" dirty="0">
                <a:solidFill>
                  <a:srgbClr val="1B2429"/>
                </a:solidFill>
                <a:latin typeface="Cambria"/>
              </a:rPr>
              <a:t> </a:t>
            </a:r>
            <a:r>
              <a:rPr sz="3200" b="1" i="0" dirty="0" err="1">
                <a:solidFill>
                  <a:srgbClr val="1B2429"/>
                </a:solidFill>
                <a:latin typeface="Cambria"/>
              </a:rPr>
              <a:t>contre</a:t>
            </a:r>
            <a:r>
              <a:rPr sz="3200" b="1" i="0" dirty="0">
                <a:solidFill>
                  <a:srgbClr val="1B2429"/>
                </a:solidFill>
                <a:latin typeface="Cambria"/>
              </a:rPr>
              <a:t> un gold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896112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 dirty="0">
                <a:solidFill>
                  <a:srgbClr val="52605F"/>
                </a:solidFill>
                <a:latin typeface="Calibri"/>
              </a:rPr>
              <a:t>Corpus ACTER — 18 900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termes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annotés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à la main, FR + EN, 4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domaines</a:t>
            </a:r>
            <a:r>
              <a:rPr lang="fr-FR" sz="15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lang="fr-FR"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(</a:t>
            </a:r>
            <a:r>
              <a:rPr lang="fr-FR" sz="16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corruption, équitation, insuffisance cardiaque, énergie éolienne)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. Trois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indicateurs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complémentaires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mesurés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à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froid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(sans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vocabulaire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2605F"/>
                </a:solidFill>
                <a:latin typeface="Calibri"/>
              </a:rPr>
              <a:t>cible</a:t>
            </a:r>
            <a:r>
              <a:rPr sz="1500" b="0" i="0" dirty="0">
                <a:solidFill>
                  <a:srgbClr val="52605F"/>
                </a:solidFill>
                <a:latin typeface="Calibri"/>
              </a:rPr>
              <a:t>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56432" cy="381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506980"/>
            <a:ext cx="3456432" cy="151638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634996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80">
                <a:solidFill>
                  <a:srgbClr val="0E6B66"/>
                </a:solidFill>
                <a:latin typeface="Consolas"/>
              </a:rPr>
              <a:t>PRÉCISION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45892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E6B66"/>
                </a:solidFill>
                <a:latin typeface="Consolas"/>
              </a:rPr>
              <a:t>0.551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03092"/>
            <a:ext cx="3127248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parmi les candidats retenus, part de vrais termes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2468880"/>
            <a:ext cx="3456432" cy="381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2506980"/>
            <a:ext cx="3456432" cy="151638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2634996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80">
                <a:solidFill>
                  <a:srgbClr val="0E6B66"/>
                </a:solidFill>
                <a:latin typeface="Consolas"/>
              </a:rPr>
              <a:t>RAPPEL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945892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 dirty="0">
                <a:solidFill>
                  <a:srgbClr val="0E6B66"/>
                </a:solidFill>
                <a:latin typeface="Consolas"/>
              </a:rPr>
              <a:t>0.45</a:t>
            </a:r>
            <a:r>
              <a:rPr lang="fr-FR" sz="2800" b="1" i="0" dirty="0">
                <a:solidFill>
                  <a:srgbClr val="0E6B66"/>
                </a:solidFill>
                <a:latin typeface="Consolas"/>
              </a:rPr>
              <a:t>4</a:t>
            </a:r>
            <a:endParaRPr sz="2800" b="1" i="0" dirty="0">
              <a:solidFill>
                <a:srgbClr val="0E6B66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9704" y="3403092"/>
            <a:ext cx="3127248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parmi les vrais termes du domaine, part retrouvée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2468880"/>
            <a:ext cx="3456432" cy="381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10144" y="2506980"/>
            <a:ext cx="3456432" cy="151638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74736" y="2634996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80">
                <a:solidFill>
                  <a:srgbClr val="0E6B66"/>
                </a:solidFill>
                <a:latin typeface="Consolas"/>
              </a:rPr>
              <a:t>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945892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 dirty="0">
                <a:solidFill>
                  <a:srgbClr val="0E6B66"/>
                </a:solidFill>
                <a:latin typeface="Consolas"/>
              </a:rPr>
              <a:t>0.49</a:t>
            </a:r>
            <a:r>
              <a:rPr lang="fr-FR" sz="2800" b="1" i="0" dirty="0">
                <a:solidFill>
                  <a:srgbClr val="0E6B66"/>
                </a:solidFill>
                <a:latin typeface="Consolas"/>
              </a:rPr>
              <a:t>8</a:t>
            </a:r>
            <a:endParaRPr sz="2800" b="1" i="0" dirty="0">
              <a:solidFill>
                <a:srgbClr val="0E6B66"/>
              </a:solidFill>
              <a:latin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74736" y="3403092"/>
            <a:ext cx="3127248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équilibre précision/rappel — notre chiffre de référence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2605F"/>
                </a:solidFill>
                <a:latin typeface="Calibri"/>
              </a:rPr>
              <a:t>Où se situe notre F1 face à la référence GPU (D-Terminer)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09160"/>
            <a:ext cx="6949440" cy="36576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863900" y="4709160"/>
            <a:ext cx="1250899" cy="365760"/>
          </a:xfrm>
          <a:prstGeom prst="rect">
            <a:avLst/>
          </a:prstGeom>
          <a:solidFill>
            <a:srgbClr val="A87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22744" y="5129784"/>
            <a:ext cx="1250899" cy="3598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 dirty="0">
                <a:solidFill>
                  <a:srgbClr val="A8752A"/>
                </a:solidFill>
                <a:latin typeface="Consolas"/>
              </a:rPr>
              <a:t>D-</a:t>
            </a:r>
            <a:r>
              <a:rPr sz="1050" b="1" i="0" dirty="0" err="1">
                <a:solidFill>
                  <a:srgbClr val="A8752A"/>
                </a:solidFill>
                <a:latin typeface="Consolas"/>
              </a:rPr>
              <a:t>Terminer</a:t>
            </a:r>
            <a:r>
              <a:rPr sz="1050" b="1" i="0" dirty="0">
                <a:solidFill>
                  <a:srgbClr val="A8752A"/>
                </a:solidFill>
                <a:latin typeface="Consolas"/>
              </a:rPr>
              <a:t> </a:t>
            </a:r>
            <a:br>
              <a:rPr lang="fr-FR" sz="1050" b="1" i="0" dirty="0">
                <a:solidFill>
                  <a:srgbClr val="A8752A"/>
                </a:solidFill>
                <a:latin typeface="Consolas"/>
              </a:rPr>
            </a:br>
            <a:r>
              <a:rPr sz="1050" b="1" i="0" dirty="0">
                <a:solidFill>
                  <a:srgbClr val="A8752A"/>
                </a:solidFill>
                <a:latin typeface="Consolas"/>
              </a:rPr>
              <a:t> 0.32–0.50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8201" y="4636008"/>
            <a:ext cx="25400" cy="512064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97981" y="512978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E6B66"/>
                </a:solidFill>
                <a:latin typeface="Consolas"/>
              </a:rPr>
              <a:t>notre F1  0.498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4864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4864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0.25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4864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0.5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4864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0.75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4864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9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que"/>
          <p:cNvSpPr txBox="1"/>
          <p:nvPr/>
        </p:nvSpPr>
        <p:spPr>
          <a:xfrm>
            <a:off x="457200" y="1554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C8886"/>
                </a:solidFill>
                <a:latin typeface="Consolas"/>
              </a:rPr>
              <a:t>COMPARAISON · TERMSUITE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640080" y="777240"/>
            <a:ext cx="10881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B2429"/>
                </a:solidFill>
                <a:latin typeface="Cambria"/>
              </a:rPr>
              <a:t>Embed : les suggestions les plus fiables</a:t>
            </a:r>
          </a:p>
        </p:txBody>
      </p:sp>
      <p:sp>
        <p:nvSpPr>
          <p:cNvPr id="4" name="Sous-titre"/>
          <p:cNvSpPr txBox="1"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2605F"/>
                </a:solidFill>
                <a:latin typeface="Calibri"/>
              </a:rPr>
              <a:t>Corpus ACTER avec un vocabulaire cible — comparé à TermSuite 3.0.10 à nombre de suggestions égal</a:t>
            </a:r>
          </a:p>
        </p:txBody>
      </p:sp>
      <p:sp>
        <p:nvSpPr>
          <p:cNvPr id="5" name="Carte comparaison filet"/>
          <p:cNvSpPr/>
          <p:nvPr/>
        </p:nvSpPr>
        <p:spPr>
          <a:xfrm>
            <a:off x="640080" y="2331720"/>
            <a:ext cx="6720840" cy="36576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te comparaison"/>
          <p:cNvSpPr/>
          <p:nvPr/>
        </p:nvSpPr>
        <p:spPr>
          <a:xfrm>
            <a:off x="640080" y="2368296"/>
            <a:ext cx="6720840" cy="3575304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abel comparaison"/>
          <p:cNvSpPr txBox="1"/>
          <p:nvPr/>
        </p:nvSpPr>
        <p:spPr>
          <a:xfrm>
            <a:off x="804671" y="2478024"/>
            <a:ext cx="6391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E6B66"/>
                </a:solidFill>
                <a:latin typeface="Consolas"/>
              </a:rPr>
              <a:t>AVEC VOCABULAIRE · MÊME NOMBRE DE SUGGESTIONS</a:t>
            </a:r>
          </a:p>
        </p:txBody>
      </p:sp>
      <p:graphicFrame>
        <p:nvGraphicFramePr>
          <p:cNvPr id="8" name="Graphique embed contre TermSuite"/>
          <p:cNvGraphicFramePr>
            <a:graphicFrameLocks noGrp="1"/>
          </p:cNvGraphicFramePr>
          <p:nvPr/>
        </p:nvGraphicFramePr>
        <p:xfrm>
          <a:off x="731519" y="2788920"/>
          <a:ext cx="6537959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Carte essentiel filet"/>
          <p:cNvSpPr/>
          <p:nvPr/>
        </p:nvSpPr>
        <p:spPr>
          <a:xfrm>
            <a:off x="7589520" y="2331720"/>
            <a:ext cx="3931920" cy="36576"/>
          </a:xfrm>
          <a:prstGeom prst="rect">
            <a:avLst/>
          </a:prstGeom>
          <a:solidFill>
            <a:srgbClr val="52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te essentiel"/>
          <p:cNvSpPr/>
          <p:nvPr/>
        </p:nvSpPr>
        <p:spPr>
          <a:xfrm>
            <a:off x="7589520" y="2368296"/>
            <a:ext cx="3931920" cy="3575304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abel essentiel"/>
          <p:cNvSpPr txBox="1"/>
          <p:nvPr/>
        </p:nvSpPr>
        <p:spPr>
          <a:xfrm>
            <a:off x="7754112" y="247802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52605F"/>
                </a:solidFill>
                <a:latin typeface="Consolas"/>
              </a:rPr>
              <a:t>L'ESSENTIEL</a:t>
            </a:r>
          </a:p>
        </p:txBody>
      </p:sp>
      <p:sp>
        <p:nvSpPr>
          <p:cNvPr id="12" name="Puce 1"/>
          <p:cNvSpPr/>
          <p:nvPr/>
        </p:nvSpPr>
        <p:spPr>
          <a:xfrm>
            <a:off x="7754112" y="2898648"/>
            <a:ext cx="329184" cy="329184"/>
          </a:xfrm>
          <a:prstGeom prst="ellipse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Point 1 titre"/>
          <p:cNvSpPr txBox="1"/>
          <p:nvPr/>
        </p:nvSpPr>
        <p:spPr>
          <a:xfrm>
            <a:off x="8229600" y="2880360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B2429"/>
                </a:solidFill>
                <a:latin typeface="Cambria"/>
              </a:rPr>
              <a:t>Embed vise juste</a:t>
            </a:r>
          </a:p>
        </p:txBody>
      </p:sp>
      <p:sp>
        <p:nvSpPr>
          <p:cNvPr id="14" name="Point 1 texte"/>
          <p:cNvSpPr txBox="1"/>
          <p:nvPr/>
        </p:nvSpPr>
        <p:spPr>
          <a:xfrm>
            <a:off x="8229600" y="3209544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2605F"/>
                </a:solidFill>
                <a:latin typeface="Calibri"/>
              </a:rPr>
              <a:t>85 % des suggestions de la liste 1 sont justes, contre 53 % pour TermSuite.</a:t>
            </a:r>
          </a:p>
        </p:txBody>
      </p:sp>
      <p:sp>
        <p:nvSpPr>
          <p:cNvPr id="15" name="Puce 2"/>
          <p:cNvSpPr/>
          <p:nvPr/>
        </p:nvSpPr>
        <p:spPr>
          <a:xfrm>
            <a:off x="7754112" y="3886200"/>
            <a:ext cx="329184" cy="329184"/>
          </a:xfrm>
          <a:prstGeom prst="ellipse">
            <a:avLst/>
          </a:prstGeom>
          <a:solidFill>
            <a:srgbClr val="52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6" name="Point 2 titre"/>
          <p:cNvSpPr txBox="1"/>
          <p:nvPr/>
        </p:nvSpPr>
        <p:spPr>
          <a:xfrm>
            <a:off x="8229600" y="3867912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B2429"/>
                </a:solidFill>
                <a:latin typeface="Cambria"/>
              </a:rPr>
              <a:t>TermSuite ratisse large</a:t>
            </a:r>
          </a:p>
        </p:txBody>
      </p:sp>
      <p:sp>
        <p:nvSpPr>
          <p:cNvPr id="17" name="Point 2 texte"/>
          <p:cNvSpPr txBox="1"/>
          <p:nvPr/>
        </p:nvSpPr>
        <p:spPr>
          <a:xfrm>
            <a:off x="8229600" y="4197096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2605F"/>
                </a:solidFill>
                <a:latin typeface="Calibri"/>
              </a:rPr>
              <a:t>Il retrouve plus de termes (rappel 0.30 contre 0.13), d'où un F1 plus haut.</a:t>
            </a:r>
          </a:p>
        </p:txBody>
      </p:sp>
      <p:sp>
        <p:nvSpPr>
          <p:cNvPr id="18" name="Puce 3"/>
          <p:cNvSpPr/>
          <p:nvPr/>
        </p:nvSpPr>
        <p:spPr>
          <a:xfrm>
            <a:off x="7754112" y="4873752"/>
            <a:ext cx="329184" cy="329184"/>
          </a:xfrm>
          <a:prstGeom prst="ellipse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9" name="Point 3 titre"/>
          <p:cNvSpPr txBox="1"/>
          <p:nvPr/>
        </p:nvSpPr>
        <p:spPr>
          <a:xfrm>
            <a:off x="8229600" y="4855464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B2429"/>
                </a:solidFill>
                <a:latin typeface="Cambria"/>
              </a:rPr>
              <a:t>Le curateur gagne avec embed</a:t>
            </a:r>
          </a:p>
        </p:txBody>
      </p:sp>
      <p:sp>
        <p:nvSpPr>
          <p:cNvPr id="20" name="Point 3 texte"/>
          <p:cNvSpPr txBox="1"/>
          <p:nvPr/>
        </p:nvSpPr>
        <p:spPr>
          <a:xfrm>
            <a:off x="8229600" y="5184648"/>
            <a:ext cx="3127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2605F"/>
                </a:solidFill>
                <a:latin typeface="Calibri"/>
              </a:rPr>
              <a:t>Il valide chaque suggestion : peu de bruit compte plus que l'exhaustivité.</a:t>
            </a:r>
          </a:p>
        </p:txBody>
      </p:sp>
      <p:sp>
        <p:nvSpPr>
          <p:cNvPr id="21" name="Note de méthode"/>
          <p:cNvSpPr txBox="1"/>
          <p:nvPr/>
        </p:nvSpPr>
        <p:spPr>
          <a:xfrm>
            <a:off x="640080" y="614476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7C8886"/>
                </a:solidFill>
                <a:latin typeface="Calibri"/>
              </a:rPr>
              <a:t>Évaluation mot par mot (token-level) : la moitié des termes annotés sert de vocabulaire, l'autre est à retrouver. Sans vocabulaire : F1 0.57 pour TermSuite, 0.50 pour PositionRank.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49665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140" dirty="0">
                <a:solidFill>
                  <a:srgbClr val="7C8886"/>
                </a:solidFill>
                <a:latin typeface="Consolas"/>
              </a:rPr>
              <a:t>EXEMPLE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429"/>
                </a:solidFill>
                <a:latin typeface="Cambria"/>
              </a:rPr>
              <a:t>Passage à l'échelle : RevueESR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2605F"/>
                </a:solidFill>
                <a:latin typeface="Calibri"/>
              </a:rPr>
              <a:t>1 539 documents, 5 954 459 tokens, vocabulaire SEN (santé environnementale). Run complet en 28 min 39, sans incident.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2377440" cy="381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 dirty="0">
                <a:solidFill>
                  <a:srgbClr val="1B2429"/>
                </a:solidFill>
                <a:latin typeface="Consolas"/>
              </a:rPr>
              <a:t>3</a:t>
            </a:r>
            <a:r>
              <a:rPr lang="fr-FR" sz="2300" b="1" i="0" dirty="0">
                <a:solidFill>
                  <a:srgbClr val="1B2429"/>
                </a:solidFill>
                <a:latin typeface="Consolas"/>
              </a:rPr>
              <a:t>7 054</a:t>
            </a:r>
            <a:endParaRPr sz="2300" b="1" i="0" dirty="0">
              <a:solidFill>
                <a:srgbClr val="1B2429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candidats extraits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31720"/>
            <a:ext cx="2377440" cy="381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 dirty="0">
                <a:solidFill>
                  <a:srgbClr val="1B2429"/>
                </a:solidFill>
                <a:latin typeface="Consolas"/>
              </a:rPr>
              <a:t>2</a:t>
            </a:r>
            <a:r>
              <a:rPr lang="fr-FR" sz="2300" b="1" dirty="0">
                <a:solidFill>
                  <a:srgbClr val="1B2429"/>
                </a:solidFill>
                <a:latin typeface="Consolas"/>
              </a:rPr>
              <a:t>50</a:t>
            </a:r>
            <a:endParaRPr sz="2300" b="1" i="0" dirty="0">
              <a:solidFill>
                <a:srgbClr val="1B2429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91840" y="2743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déjà dans le vocabulaire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31720"/>
            <a:ext cx="2377440" cy="381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 dirty="0">
                <a:solidFill>
                  <a:srgbClr val="1B2429"/>
                </a:solidFill>
                <a:latin typeface="Consolas"/>
              </a:rPr>
              <a:t>3</a:t>
            </a:r>
            <a:r>
              <a:rPr lang="fr-FR" sz="2300" b="1" dirty="0">
                <a:solidFill>
                  <a:srgbClr val="1B2429"/>
                </a:solidFill>
                <a:latin typeface="Consolas"/>
              </a:rPr>
              <a:t>7</a:t>
            </a:r>
            <a:r>
              <a:rPr sz="2300" b="1" i="0" dirty="0">
                <a:solidFill>
                  <a:srgbClr val="1B2429"/>
                </a:solidFill>
                <a:latin typeface="Consolas"/>
              </a:rPr>
              <a:t> </a:t>
            </a:r>
            <a:r>
              <a:rPr lang="fr-FR" sz="2300" b="1" dirty="0">
                <a:solidFill>
                  <a:srgbClr val="1B2429"/>
                </a:solidFill>
                <a:latin typeface="Consolas"/>
              </a:rPr>
              <a:t>004</a:t>
            </a:r>
            <a:endParaRPr sz="2300" b="1" i="0" dirty="0">
              <a:solidFill>
                <a:srgbClr val="1B2429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2743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nouveaux à trier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3456432" cy="381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284220"/>
            <a:ext cx="3456432" cy="156210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3412236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80">
                <a:solidFill>
                  <a:srgbClr val="0E6B66"/>
                </a:solidFill>
                <a:latin typeface="Consolas"/>
              </a:rPr>
              <a:t>NIVEAU 1 · SÉMANTIQUE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723132"/>
            <a:ext cx="3127248" cy="463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 dirty="0">
                <a:solidFill>
                  <a:srgbClr val="0E6B66"/>
                </a:solidFill>
                <a:latin typeface="Consolas"/>
              </a:rPr>
              <a:t>1</a:t>
            </a:r>
            <a:r>
              <a:rPr lang="fr-FR" sz="2800" b="1" i="0" dirty="0">
                <a:solidFill>
                  <a:srgbClr val="0E6B66"/>
                </a:solidFill>
                <a:latin typeface="Consolas"/>
              </a:rPr>
              <a:t>91</a:t>
            </a:r>
            <a:endParaRPr sz="2800" b="1" i="0" dirty="0">
              <a:solidFill>
                <a:srgbClr val="0E6B66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4672" y="4180332"/>
            <a:ext cx="3127248" cy="6350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" y="4180332"/>
            <a:ext cx="150107" cy="635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363212"/>
            <a:ext cx="3127248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candidats proches d'un terme déjà connu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3246120"/>
            <a:ext cx="3456432" cy="38100"/>
          </a:xfrm>
          <a:prstGeom prst="rect">
            <a:avLst/>
          </a:prstGeom>
          <a:solidFill>
            <a:srgbClr val="A87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5112" y="3284220"/>
            <a:ext cx="3456432" cy="156210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412236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80">
                <a:solidFill>
                  <a:srgbClr val="A8752A"/>
                </a:solidFill>
                <a:latin typeface="Consolas"/>
              </a:rPr>
              <a:t>NIVEAU 2 · STRUCTUREL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3723132"/>
            <a:ext cx="3127248" cy="463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fr-FR" sz="2800" b="1" dirty="0">
                <a:solidFill>
                  <a:srgbClr val="A8752A"/>
                </a:solidFill>
                <a:latin typeface="Consolas"/>
              </a:rPr>
              <a:t>666</a:t>
            </a:r>
            <a:endParaRPr sz="2800" b="1" i="0" dirty="0">
              <a:solidFill>
                <a:srgbClr val="A8752A"/>
              </a:solidFill>
              <a:latin typeface="Consola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489704" y="4180332"/>
            <a:ext cx="3127248" cy="6350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9704" y="4180332"/>
            <a:ext cx="597304" cy="63500"/>
          </a:xfrm>
          <a:prstGeom prst="rect">
            <a:avLst/>
          </a:prstGeom>
          <a:solidFill>
            <a:srgbClr val="A87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9704" y="4363212"/>
            <a:ext cx="3127248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profil de terme important dans le texte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0144" y="3246120"/>
            <a:ext cx="3456432" cy="38100"/>
          </a:xfrm>
          <a:prstGeom prst="rect">
            <a:avLst/>
          </a:prstGeom>
          <a:solidFill>
            <a:srgbClr val="6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10144" y="3284220"/>
            <a:ext cx="3456432" cy="156210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74736" y="3412236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80">
                <a:solidFill>
                  <a:srgbClr val="6E5A8C"/>
                </a:solidFill>
                <a:latin typeface="Consolas"/>
              </a:rPr>
              <a:t>NIVEAU 3 · SPÉCIFICITÉ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723132"/>
            <a:ext cx="3127248" cy="463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 dirty="0">
                <a:solidFill>
                  <a:srgbClr val="6E5A8C"/>
                </a:solidFill>
                <a:latin typeface="Consolas"/>
              </a:rPr>
              <a:t>3 </a:t>
            </a:r>
            <a:r>
              <a:rPr lang="fr-FR" sz="2800" b="1" dirty="0">
                <a:solidFill>
                  <a:srgbClr val="6E5A8C"/>
                </a:solidFill>
                <a:latin typeface="Consolas"/>
              </a:rPr>
              <a:t>540</a:t>
            </a:r>
            <a:endParaRPr sz="2800" b="1" i="0" dirty="0">
              <a:solidFill>
                <a:srgbClr val="6E5A8C"/>
              </a:solidFill>
              <a:latin typeface="Consola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174736" y="4180332"/>
            <a:ext cx="3127248" cy="63500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74736" y="4180332"/>
            <a:ext cx="3127248" cy="63500"/>
          </a:xfrm>
          <a:prstGeom prst="rect">
            <a:avLst/>
          </a:prstGeom>
          <a:solidFill>
            <a:srgbClr val="6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74736" y="4363212"/>
            <a:ext cx="3127248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605F"/>
                </a:solidFill>
                <a:latin typeface="Calibri"/>
              </a:rPr>
              <a:t>mots rares vs langue courante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74920"/>
            <a:ext cx="38100" cy="1051560"/>
          </a:xfrm>
          <a:prstGeom prst="rect">
            <a:avLst/>
          </a:prstGeom>
          <a:solidFill>
            <a:srgbClr val="6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78180" y="5074920"/>
            <a:ext cx="10843260" cy="105156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21208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80">
                <a:solidFill>
                  <a:srgbClr val="6E5A8C"/>
                </a:solidFill>
                <a:latin typeface="Consolas"/>
              </a:rPr>
              <a:t>ÉCHANTILLON NIVEAU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513832"/>
            <a:ext cx="10241280" cy="206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 dirty="0">
                <a:solidFill>
                  <a:srgbClr val="52605F"/>
                </a:solidFill>
                <a:latin typeface="Calibri"/>
              </a:rPr>
              <a:t>« intoxication </a:t>
            </a:r>
            <a:r>
              <a:rPr sz="1200" b="0" i="0" dirty="0" err="1">
                <a:solidFill>
                  <a:srgbClr val="52605F"/>
                </a:solidFill>
                <a:latin typeface="Calibri"/>
              </a:rPr>
              <a:t>ciguatérique</a:t>
            </a:r>
            <a:r>
              <a:rPr sz="1200" b="0" i="0" dirty="0">
                <a:solidFill>
                  <a:srgbClr val="52605F"/>
                </a:solidFill>
                <a:latin typeface="Calibri"/>
              </a:rPr>
              <a:t> »  ·  « </a:t>
            </a:r>
            <a:r>
              <a:rPr sz="1200" b="0" i="0" dirty="0" err="1">
                <a:solidFill>
                  <a:srgbClr val="52605F"/>
                </a:solidFill>
                <a:latin typeface="Calibri"/>
              </a:rPr>
              <a:t>toxicité</a:t>
            </a:r>
            <a:r>
              <a:rPr sz="12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2605F"/>
                </a:solidFill>
                <a:latin typeface="Calibri"/>
              </a:rPr>
              <a:t>chimique</a:t>
            </a:r>
            <a:r>
              <a:rPr sz="1200" b="0" i="0" dirty="0">
                <a:solidFill>
                  <a:srgbClr val="52605F"/>
                </a:solidFill>
                <a:latin typeface="Calibri"/>
              </a:rPr>
              <a:t> »  ·  « micro-</a:t>
            </a:r>
            <a:r>
              <a:rPr sz="1200" b="0" i="0" dirty="0" err="1">
                <a:solidFill>
                  <a:srgbClr val="52605F"/>
                </a:solidFill>
                <a:latin typeface="Calibri"/>
              </a:rPr>
              <a:t>organismes</a:t>
            </a:r>
            <a:r>
              <a:rPr sz="12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2605F"/>
                </a:solidFill>
                <a:latin typeface="Calibri"/>
              </a:rPr>
              <a:t>infectieux</a:t>
            </a:r>
            <a:r>
              <a:rPr sz="1200" b="0" i="0" dirty="0">
                <a:solidFill>
                  <a:srgbClr val="52605F"/>
                </a:solidFill>
                <a:latin typeface="Calibri"/>
              </a:rPr>
              <a:t> » — </a:t>
            </a:r>
            <a:r>
              <a:rPr sz="1200" b="0" i="0" dirty="0" err="1">
                <a:solidFill>
                  <a:srgbClr val="52605F"/>
                </a:solidFill>
                <a:latin typeface="Calibri"/>
              </a:rPr>
              <a:t>cohérent</a:t>
            </a:r>
            <a:r>
              <a:rPr sz="1200" b="0" i="0" dirty="0">
                <a:solidFill>
                  <a:srgbClr val="52605F"/>
                </a:solidFill>
                <a:latin typeface="Calibri"/>
              </a:rPr>
              <a:t> avec le </a:t>
            </a:r>
            <a:r>
              <a:rPr sz="1200" b="0" i="0" dirty="0" err="1">
                <a:solidFill>
                  <a:srgbClr val="52605F"/>
                </a:solidFill>
                <a:latin typeface="Calibri"/>
              </a:rPr>
              <a:t>domaine</a:t>
            </a:r>
            <a:r>
              <a:rPr sz="1200" b="0" i="0" dirty="0">
                <a:solidFill>
                  <a:srgbClr val="52605F"/>
                </a:solidFill>
                <a:latin typeface="Calibri"/>
              </a:rPr>
              <a:t> du corpus </a:t>
            </a:r>
            <a:r>
              <a:rPr sz="1200" b="0" i="0" dirty="0" err="1">
                <a:solidFill>
                  <a:srgbClr val="52605F"/>
                </a:solidFill>
                <a:latin typeface="Calibri"/>
              </a:rPr>
              <a:t>toxicologie</a:t>
            </a:r>
            <a:endParaRPr sz="1200" b="0" i="0" dirty="0">
              <a:solidFill>
                <a:srgbClr val="52605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2511" y="2057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140">
                <a:solidFill>
                  <a:srgbClr val="7C8886"/>
                </a:solidFill>
                <a:latin typeface="Consolas"/>
              </a:rPr>
              <a:t>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429"/>
                </a:solidFill>
                <a:latin typeface="Cambria"/>
              </a:rPr>
              <a:t>Prochaines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80360"/>
            <a:ext cx="3456432" cy="38100"/>
          </a:xfrm>
          <a:prstGeom prst="rect">
            <a:avLst/>
          </a:prstGeom>
          <a:solidFill>
            <a:srgbClr val="52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640080" y="2918460"/>
            <a:ext cx="3456432" cy="206502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04672" y="3046476"/>
            <a:ext cx="3127248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 spc="80">
                <a:solidFill>
                  <a:srgbClr val="52605F"/>
                </a:solidFill>
                <a:latin typeface="Consolas"/>
              </a:rPr>
              <a:t>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57372"/>
            <a:ext cx="3127248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Tag officiel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723132"/>
            <a:ext cx="3127248" cy="241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52605F"/>
                </a:solidFill>
                <a:latin typeface="Calibri"/>
              </a:rPr>
              <a:t>Finaliser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et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publier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la release 2.0.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2880360"/>
            <a:ext cx="3456432" cy="38100"/>
          </a:xfrm>
          <a:prstGeom prst="rect">
            <a:avLst/>
          </a:prstGeom>
          <a:solidFill>
            <a:srgbClr val="A87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4325112" y="2918460"/>
            <a:ext cx="3456432" cy="206502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489704" y="3046476"/>
            <a:ext cx="3127248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 spc="80">
                <a:solidFill>
                  <a:srgbClr val="A8752A"/>
                </a:solidFill>
                <a:latin typeface="Consolas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357372"/>
            <a:ext cx="3127248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Gros 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3723132"/>
            <a:ext cx="3127248" cy="499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2605F"/>
                </a:solidFill>
                <a:latin typeface="Calibri"/>
              </a:rPr>
              <a:t>Fiabiliser la détection de variantes sur les très gros volumes.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2880360"/>
            <a:ext cx="3456432" cy="38100"/>
          </a:xfrm>
          <a:prstGeom prst="rect">
            <a:avLst/>
          </a:prstGeom>
          <a:solidFill>
            <a:srgbClr val="0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8010144" y="2918460"/>
            <a:ext cx="3456432" cy="2065020"/>
          </a:xfrm>
          <a:prstGeom prst="rect">
            <a:avLst/>
          </a:prstGeom>
          <a:solidFill>
            <a:srgbClr val="FBFBF8"/>
          </a:solidFill>
          <a:ln w="9525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174736" y="3046476"/>
            <a:ext cx="3127248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fr-FR" sz="1200" b="1" i="0" spc="80" dirty="0">
                <a:solidFill>
                  <a:srgbClr val="0E6B66"/>
                </a:solidFill>
                <a:latin typeface="Consolas"/>
              </a:rPr>
              <a:t>GUIDER</a:t>
            </a:r>
            <a:endParaRPr sz="1200" b="1" i="0" spc="80" dirty="0">
              <a:solidFill>
                <a:srgbClr val="0E6B66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74736" y="3357372"/>
            <a:ext cx="3127248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1" i="0">
                <a:solidFill>
                  <a:srgbClr val="1B2429"/>
                </a:solidFill>
                <a:latin typeface="Cambria"/>
              </a:rPr>
              <a:t>Guide du curateur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3723132"/>
            <a:ext cx="3127248" cy="499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 dirty="0">
                <a:solidFill>
                  <a:srgbClr val="52605F"/>
                </a:solidFill>
                <a:latin typeface="Calibri"/>
              </a:rPr>
              <a:t>Déjà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rédigé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— prêt à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l'usage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dès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605F"/>
                </a:solidFill>
                <a:latin typeface="Calibri"/>
              </a:rPr>
              <a:t>aujourd'hui</a:t>
            </a:r>
            <a:r>
              <a:rPr sz="1400" b="0" i="0" dirty="0">
                <a:solidFill>
                  <a:srgbClr val="52605F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7C8886"/>
                </a:solidFill>
                <a:latin typeface="Consola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TM03457464[[fn=Dividende]]</Template>
  <TotalTime>1327</TotalTime>
  <Words>1798</Words>
  <Application>Microsoft Office PowerPoint</Application>
  <PresentationFormat>Grand écran</PresentationFormat>
  <Paragraphs>182</Paragraphs>
  <Slides>10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-apple-system</vt:lpstr>
      <vt:lpstr>Arial</vt:lpstr>
      <vt:lpstr>Calibri</vt:lpstr>
      <vt:lpstr>Cambria</vt:lpstr>
      <vt:lpstr>Consolas</vt:lpstr>
      <vt:lpstr>Gill Sans MT</vt:lpstr>
      <vt:lpstr>Wingdings 2</vt:lpstr>
      <vt:lpstr>Dividende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SCHNEIDER, Stephane</cp:lastModifiedBy>
  <cp:revision>21</cp:revision>
  <dcterms:created xsi:type="dcterms:W3CDTF">2013-01-27T09:14:16Z</dcterms:created>
  <dcterms:modified xsi:type="dcterms:W3CDTF">2026-10-09T14:01:53Z</dcterms:modified>
  <cp:category/>
</cp:coreProperties>
</file>